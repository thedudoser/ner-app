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5"/>
  </p:notesMasterIdLst>
  <p:sldIdLst>
    <p:sldId id="291" r:id="rId5"/>
    <p:sldId id="334" r:id="rId6"/>
    <p:sldId id="292" r:id="rId7"/>
    <p:sldId id="386" r:id="rId8"/>
    <p:sldId id="356" r:id="rId9"/>
    <p:sldId id="388" r:id="rId10"/>
    <p:sldId id="365" r:id="rId11"/>
    <p:sldId id="364" r:id="rId12"/>
    <p:sldId id="343" r:id="rId13"/>
    <p:sldId id="390" r:id="rId14"/>
    <p:sldId id="360" r:id="rId15"/>
    <p:sldId id="375" r:id="rId16"/>
    <p:sldId id="389" r:id="rId17"/>
    <p:sldId id="374" r:id="rId18"/>
    <p:sldId id="373" r:id="rId19"/>
    <p:sldId id="376" r:id="rId20"/>
    <p:sldId id="379" r:id="rId21"/>
    <p:sldId id="377" r:id="rId22"/>
    <p:sldId id="380" r:id="rId23"/>
    <p:sldId id="381" r:id="rId24"/>
    <p:sldId id="329" r:id="rId25"/>
    <p:sldId id="330" r:id="rId26"/>
    <p:sldId id="393" r:id="rId27"/>
    <p:sldId id="392" r:id="rId28"/>
    <p:sldId id="332" r:id="rId29"/>
    <p:sldId id="265" r:id="rId30"/>
    <p:sldId id="382" r:id="rId31"/>
    <p:sldId id="384" r:id="rId32"/>
    <p:sldId id="383" r:id="rId33"/>
    <p:sldId id="324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F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9"/>
    <p:restoredTop sz="63102" autoAdjust="0"/>
  </p:normalViewPr>
  <p:slideViewPr>
    <p:cSldViewPr snapToGrid="0">
      <p:cViewPr varScale="1">
        <p:scale>
          <a:sx n="75" d="100"/>
          <a:sy n="75" d="100"/>
        </p:scale>
        <p:origin x="197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7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20T07:47:29.523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F3998-8575-4910-A9D3-C7EB9466B0AE}" type="datetimeFigureOut">
              <a:rPr lang="ru-RU" smtClean="0"/>
              <a:t>06.07.2025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1D242-F490-4F87-B996-FBCB4E7FC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63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65CE44EE-5730-4A78-83E6-33F18E2D63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2CFCB7F-30BF-40CB-9EFF-6CE32660AD03}" type="slidenum">
              <a:rPr lang="ru-RU" altLang="ru-RU" smtClean="0"/>
              <a:pPr/>
              <a:t>1</a:t>
            </a:fld>
            <a:endParaRPr lang="ru-RU" altLang="ru-RU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B6865ED-DC65-4056-93B4-1369398770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1EE8D39-E717-446F-859B-EB299EDC6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dirty="0"/>
              <a:t>Здравствуйте</a:t>
            </a:r>
            <a:r>
              <a:rPr lang="en-US" altLang="ru-RU" dirty="0"/>
              <a:t>, </a:t>
            </a:r>
            <a:r>
              <a:rPr lang="ru-RU" altLang="ru-RU" dirty="0"/>
              <a:t>уважаемые члены комиссии</a:t>
            </a:r>
            <a:r>
              <a:rPr lang="en-US" altLang="ru-RU" dirty="0"/>
              <a:t>.</a:t>
            </a:r>
            <a:endParaRPr lang="ru-RU" altLang="ru-RU" dirty="0"/>
          </a:p>
          <a:p>
            <a:r>
              <a:rPr lang="ru-RU" altLang="ru-RU" dirty="0">
                <a:cs typeface="+mn-lt"/>
              </a:rPr>
              <a:t>Меня зовут Хмелевский Егор</a:t>
            </a:r>
            <a:r>
              <a:rPr lang="en-US" altLang="ru-RU" dirty="0">
                <a:cs typeface="+mn-lt"/>
              </a:rPr>
              <a:t>. </a:t>
            </a:r>
            <a:r>
              <a:rPr lang="ru-RU" altLang="ru-RU" dirty="0">
                <a:cs typeface="+mn-lt"/>
              </a:rPr>
              <a:t>Мой научный руководитель – Остроухова Светлана Николаевна</a:t>
            </a:r>
            <a:r>
              <a:rPr lang="en-US" altLang="ru-RU" dirty="0">
                <a:cs typeface="+mn-lt"/>
              </a:rPr>
              <a:t>.</a:t>
            </a:r>
            <a:br>
              <a:rPr lang="ru-RU" altLang="ru-RU" dirty="0">
                <a:cs typeface="+mn-lt"/>
              </a:rPr>
            </a:br>
            <a:r>
              <a:rPr lang="ru-RU" altLang="ru-RU" dirty="0"/>
              <a:t>Вашему вниманию предоставляется доклад по выпускной квалификационной работе на тему </a:t>
            </a:r>
            <a:r>
              <a:rPr lang="en-US" altLang="ru-RU" dirty="0"/>
              <a:t>“</a:t>
            </a:r>
            <a:r>
              <a:rPr lang="ru-RU" sz="1200" cap="all" dirty="0">
                <a:effectLst/>
                <a:ea typeface="Times New Roman" panose="02020603050405020304" pitchFamily="18" charset="0"/>
              </a:rPr>
              <a:t>АВТОМАТИЗАЦИЯ ПРОЦЕССА РАЗМЕТКИ ТЕКСТОВЫХ ДОКУМЕНТОВ</a:t>
            </a:r>
            <a:br>
              <a:rPr lang="en-US" sz="1200" cap="all" dirty="0">
                <a:effectLst/>
                <a:ea typeface="Times New Roman" panose="02020603050405020304" pitchFamily="18" charset="0"/>
              </a:rPr>
            </a:br>
            <a:r>
              <a:rPr lang="ru-RU" sz="1200" cap="all" dirty="0">
                <a:effectLst/>
                <a:ea typeface="Times New Roman" panose="02020603050405020304" pitchFamily="18" charset="0"/>
              </a:rPr>
              <a:t>ВОПРОСНО-ОТВЕТНОЙ СИСТЕМЫ С РАЗМЕЧЕННОЙ КОЛЛЕКЦИЕЙ ДОКУМЕНТОВ</a:t>
            </a:r>
            <a:r>
              <a:rPr lang="en-US" altLang="ru-RU" dirty="0"/>
              <a:t>”.</a:t>
            </a:r>
            <a:endParaRPr lang="ru-R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5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Объём информации во всём мире стремительно растёт, и задача быстрого поиска ответов становится всё актуальнее.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Большинство существующих решений или требуют интернет-соединения и используют открытые данные, или работают только с заранее размеченными выборками, что требует больших вычислительных ресурсов. В связи с этим возникает необходимость разработки новой системы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способной работать автономно с закрытым набором данных и не требовать больших вычислительных ресурсов.</a:t>
            </a:r>
            <a:endParaRPr lang="en-US" sz="4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9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Целью выпускной квалификационной работы является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автоматизация процесса разметки текстовых документов для вопросно-ответных систем на основе размеченной коллекции документов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ea typeface="Calibri"/>
              <a:cs typeface="Calibri"/>
            </a:endParaRPr>
          </a:p>
          <a:p>
            <a:r>
              <a:rPr lang="ru-RU" dirty="0"/>
              <a:t>Для достижения поставленной цели требуется решить задачи, представленные на слайде.</a:t>
            </a:r>
            <a:endParaRPr lang="ru-RU" dirty="0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16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10490-7A0E-1DCB-A4B6-583089DD2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747C73-6B02-321C-4CDE-BC86DF4E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8F76E5F-A4CA-986F-F2C4-521ECAC78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ru-RU" sz="1800" b="1" dirty="0"/>
              <a:t>Вопросно-ответная система</a:t>
            </a:r>
            <a:r>
              <a:rPr lang="en-US" sz="1800" b="1" dirty="0"/>
              <a:t> (QA)</a:t>
            </a:r>
            <a:r>
              <a:rPr lang="ru-RU" sz="1800" dirty="0"/>
              <a:t> – информационная система, способная принимать вопросы и отвечать на них на естественном языке.</a:t>
            </a:r>
          </a:p>
          <a:p>
            <a:r>
              <a:rPr lang="ru-RU" sz="1800" dirty="0"/>
              <a:t>Различают 4 вида </a:t>
            </a:r>
            <a:r>
              <a:rPr lang="en-US" sz="1800" dirty="0"/>
              <a:t>QA-</a:t>
            </a:r>
            <a:r>
              <a:rPr lang="ru-RU" sz="1800" dirty="0"/>
              <a:t>систем</a:t>
            </a:r>
            <a:r>
              <a:rPr lang="en-US" sz="1800" dirty="0"/>
              <a:t> </a:t>
            </a:r>
            <a:r>
              <a:rPr lang="ru-RU" sz="1800" dirty="0"/>
              <a:t>по тому</a:t>
            </a:r>
            <a:r>
              <a:rPr lang="en-US" sz="1800" dirty="0"/>
              <a:t>, </a:t>
            </a:r>
            <a:r>
              <a:rPr lang="ru-RU" sz="1800" dirty="0"/>
              <a:t>на чём они основываются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* </a:t>
            </a:r>
            <a:r>
              <a:rPr lang="ru-RU" sz="1800" dirty="0"/>
              <a:t> В </a:t>
            </a:r>
            <a:r>
              <a:rPr lang="en-US" sz="1800" dirty="0"/>
              <a:t>QA-</a:t>
            </a:r>
            <a:r>
              <a:rPr lang="ru-RU" dirty="0"/>
              <a:t>системах</a:t>
            </a:r>
            <a:r>
              <a:rPr lang="en-US" dirty="0"/>
              <a:t>,</a:t>
            </a:r>
            <a:r>
              <a:rPr lang="ru-RU" dirty="0"/>
              <a:t> основанных на веб-поиске качество результатов зависит от поисковой системы</a:t>
            </a:r>
            <a:r>
              <a:rPr lang="en-US" dirty="0"/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QA-</a:t>
            </a:r>
            <a:r>
              <a:rPr lang="ru-RU" dirty="0"/>
              <a:t>системах с коллекцией вопросов и ответов необходим сбор коллекции вопросов и ответов</a:t>
            </a:r>
            <a:r>
              <a:rPr lang="en-US" dirty="0"/>
              <a:t>.</a:t>
            </a:r>
            <a:r>
              <a:rPr lang="ru-RU" dirty="0"/>
              <a:t> Так же в них отсутствует возможность ответа на вопрос, аналогов которого нет в коллекции.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экспертных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системах н</a:t>
            </a:r>
            <a:r>
              <a:rPr lang="ru-RU" dirty="0"/>
              <a:t>еобходимо создание больших структурированных баз знаний</a:t>
            </a:r>
            <a:r>
              <a:rPr lang="en-US" dirty="0"/>
              <a:t>, </a:t>
            </a:r>
            <a:r>
              <a:rPr lang="ru-RU" dirty="0"/>
              <a:t>а также необходимы эксперты в предметным областях.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настоящее время получил развитие подход к разработке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QA-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 </a:t>
            </a:r>
            <a:r>
              <a:rPr lang="ru-RU" dirty="0"/>
              <a:t>с коллекцией индексированных документов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defRPr/>
            </a:pP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AEF06D-208C-F932-80A6-3B113827B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587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ru-RU" dirty="0"/>
              <a:t>Данный подход основывается на подходе </a:t>
            </a:r>
            <a:r>
              <a:rPr lang="en-US" dirty="0"/>
              <a:t>RAG, </a:t>
            </a:r>
            <a:r>
              <a:rPr lang="ru-RU" dirty="0"/>
              <a:t>который обеспечивает</a:t>
            </a:r>
            <a:r>
              <a:rPr lang="en-US" dirty="0"/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/>
              <a:t>Возможность самостоятельного управления индексированием и поиском по индексу;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/>
              <a:t>Ускорение системы при обработке запроса за счет самостоятельного индексирования документов.</a:t>
            </a:r>
            <a:endParaRPr lang="ru-RU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ru-RU" b="0" i="0" dirty="0">
                <a:effectLst/>
                <a:latin typeface="fkGroteskNeue"/>
              </a:rPr>
              <a:t>Кроме того </a:t>
            </a:r>
            <a:r>
              <a:rPr lang="en-US" b="0" i="0" dirty="0">
                <a:effectLst/>
                <a:latin typeface="fkGroteskNeue"/>
              </a:rPr>
              <a:t>RAG </a:t>
            </a:r>
            <a:r>
              <a:rPr lang="ru-RU" b="0" i="0" dirty="0">
                <a:effectLst/>
                <a:latin typeface="fkGroteskNeue"/>
              </a:rPr>
              <a:t>позволяет использовать локальные коллекции документов</a:t>
            </a:r>
            <a:r>
              <a:rPr lang="en-US" b="0" i="0" dirty="0">
                <a:effectLst/>
                <a:latin typeface="fkGroteskNeue"/>
              </a:rPr>
              <a:t>.</a:t>
            </a:r>
            <a:endParaRPr lang="ru-RU" b="0" i="0" dirty="0">
              <a:effectLst/>
              <a:latin typeface="fkGroteskNeue"/>
            </a:endParaRPr>
          </a:p>
          <a:p>
            <a:pPr algn="l">
              <a:buNone/>
            </a:pPr>
            <a:endParaRPr lang="ru-RU" b="0" i="0" dirty="0">
              <a:effectLst/>
              <a:latin typeface="fkGroteskNeue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736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A8C4-0C29-A2D2-AF16-4973B5C3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3DE1D61-3FE6-6FA9-628A-C45892CD4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50FC9D-1A65-D386-D4F3-769EE46F6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effectLst/>
                <a:latin typeface="fkGroteskNeue"/>
              </a:rPr>
              <a:t>Основными шагами в </a:t>
            </a:r>
            <a:r>
              <a:rPr lang="en-US" b="0" i="0" dirty="0">
                <a:effectLst/>
                <a:latin typeface="fkGroteskNeue"/>
              </a:rPr>
              <a:t>RAG</a:t>
            </a:r>
            <a:r>
              <a:rPr lang="ru-RU" b="0" i="0" dirty="0">
                <a:effectLst/>
                <a:latin typeface="fkGroteskNeue"/>
              </a:rPr>
              <a:t> являются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effectLst/>
                <a:latin typeface="fkGroteskNeue"/>
              </a:rPr>
              <a:t>* </a:t>
            </a:r>
            <a:r>
              <a:rPr lang="ru-RU" b="0" i="0" dirty="0">
                <a:effectLst/>
                <a:latin typeface="fkGroteskNeue"/>
              </a:rPr>
              <a:t>Разделение на фрагменты</a:t>
            </a:r>
            <a:r>
              <a:rPr lang="en-US" b="0" i="0" dirty="0">
                <a:effectLst/>
                <a:latin typeface="fkGroteskNeue"/>
              </a:rPr>
              <a:t>. </a:t>
            </a:r>
            <a:r>
              <a:rPr lang="ru-RU" b="0" i="0" dirty="0">
                <a:effectLst/>
                <a:latin typeface="fkGroteskNeue"/>
              </a:rPr>
              <a:t>Текст делится на текстовые блоки</a:t>
            </a:r>
            <a:r>
              <a:rPr lang="en-US" b="0" i="0" dirty="0">
                <a:effectLst/>
                <a:latin typeface="fkGroteskNeue"/>
              </a:rPr>
              <a:t> </a:t>
            </a:r>
            <a:r>
              <a:rPr lang="ru-RU" b="0" i="0" dirty="0">
                <a:effectLst/>
                <a:latin typeface="fkGroteskNeue"/>
              </a:rPr>
              <a:t>как правило одинаковой длины</a:t>
            </a:r>
            <a:r>
              <a:rPr lang="en-US" b="0" i="0" dirty="0">
                <a:effectLst/>
                <a:latin typeface="fkGroteskNeue"/>
              </a:rPr>
              <a:t>.</a:t>
            </a:r>
            <a:endParaRPr lang="ru-RU" b="0" i="0" dirty="0">
              <a:effectLst/>
              <a:latin typeface="fkGroteskNeue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Извлечение сущностей и связей во всех текстовых блоках</a:t>
            </a:r>
            <a:r>
              <a:rPr lang="en-US" b="0" i="0" dirty="0">
                <a:effectLst/>
                <a:latin typeface="fkGroteskNeue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Индексация и векторизация</a:t>
            </a:r>
            <a:r>
              <a:rPr lang="en-US" b="0" i="0" dirty="0">
                <a:effectLst/>
                <a:latin typeface="fkGroteskNeue"/>
              </a:rPr>
              <a:t>, </a:t>
            </a:r>
            <a:r>
              <a:rPr lang="ru-RU" b="0" i="0" dirty="0">
                <a:effectLst/>
                <a:latin typeface="fkGroteskNeue"/>
              </a:rPr>
              <a:t>позволяющая сформировать структуру для поиска по векторным представлениям текста</a:t>
            </a:r>
            <a:r>
              <a:rPr lang="en-US" b="0" i="0" dirty="0">
                <a:effectLst/>
                <a:latin typeface="fkGroteskNeue"/>
              </a:rPr>
              <a:t>.</a:t>
            </a:r>
            <a:endParaRPr lang="ru-RU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None/>
            </a:pPr>
            <a:endParaRPr lang="ru-RU" b="0" i="0" dirty="0">
              <a:effectLst/>
              <a:latin typeface="fkGroteskNeue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209FFA-58D2-537D-2687-D4CF945A7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382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US" sz="2800" b="0" i="0" dirty="0">
                <a:effectLst/>
                <a:latin typeface="fkGroteskNeue"/>
              </a:rPr>
              <a:t>NER </a:t>
            </a:r>
            <a:r>
              <a:rPr lang="ru-RU" sz="2800" b="0" i="0" dirty="0">
                <a:effectLst/>
                <a:latin typeface="fkGroteskNeue"/>
              </a:rPr>
              <a:t>включает три шага: поиск кандидатов, выделение признаков, ранжирование.</a:t>
            </a:r>
          </a:p>
          <a:p>
            <a:pPr algn="l">
              <a:buFont typeface="Arial" panose="020B0604020202020204" pitchFamily="34" charset="0"/>
              <a:buNone/>
            </a:pPr>
            <a:endParaRPr lang="ru-RU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ru-RU" sz="2800" b="0" i="0" dirty="0">
                <a:effectLst/>
                <a:latin typeface="fkGroteskNeue"/>
              </a:rPr>
              <a:t>Эти этапы позволяют автоматически находить и выделять значимые именованные сущности в тексте.</a:t>
            </a:r>
          </a:p>
          <a:p>
            <a:pPr>
              <a:defRPr/>
            </a:pP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036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Статистический подход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 в реализации, быстро работает и адаптируется, но плохо справляется с многозначностью и зависит от качества данных.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Лингвистический подход - использует шаблоны для поиска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минусов – может выделять нерелевантные слова.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Машинное обучение - объединяет плюсы предыдущих подходов, но требует предварительно сформированных выборок и больших вычислительных ресурсов.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1" dirty="0"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NER </a:t>
            </a:r>
            <a:r>
              <a:rPr lang="ru-RU" b="1" dirty="0">
                <a:ea typeface="Calibri" panose="020F0502020204030204"/>
                <a:cs typeface="Calibri" panose="020F0502020204030204"/>
              </a:rPr>
              <a:t>не способен находить синонимы и значения выделенных сущностей без использования машинного обучения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.</a:t>
            </a:r>
            <a:br>
              <a:rPr lang="ru-RU" b="1" dirty="0">
                <a:ea typeface="Calibri" panose="020F0502020204030204"/>
                <a:cs typeface="Calibri" panose="020F0502020204030204"/>
              </a:rPr>
            </a:br>
            <a:r>
              <a:rPr lang="ru-RU" b="1" dirty="0">
                <a:ea typeface="Calibri" panose="020F0502020204030204"/>
                <a:cs typeface="Calibri" panose="020F0502020204030204"/>
              </a:rPr>
              <a:t>В таких случаях прибегают к комбинированному подходу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b="1" dirty="0">
                <a:ea typeface="Calibri" panose="020F0502020204030204"/>
                <a:cs typeface="Calibri" panose="020F0502020204030204"/>
              </a:rPr>
              <a:t>который включает в себя ещё и определение синонимов и значений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b="1" dirty="0">
                <a:ea typeface="Calibri" panose="020F0502020204030204"/>
                <a:cs typeface="Calibri" panose="020F0502020204030204"/>
              </a:rPr>
              <a:t>получая в итоге словарь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.</a:t>
            </a:r>
          </a:p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algn="just">
              <a:buNone/>
            </a:pPr>
            <a:endParaRPr lang="en-US" sz="1200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Söhne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113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Лучший результат в выделении именованных сущностей достигается при комбинировании статистического и лингвистического подходов с современными технологиями, такими как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позволяет создавать гибкие и масштабируемые системы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i="0" dirty="0">
              <a:effectLst/>
              <a:latin typeface="fkGroteskNeue"/>
            </a:endParaRPr>
          </a:p>
          <a:p>
            <a:pPr algn="l"/>
            <a:endParaRPr lang="ru-RU" b="0" i="0" dirty="0">
              <a:effectLst/>
              <a:latin typeface="fkGroteskNeue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406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70F30-79B6-DDCF-C8ED-7920078F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E44DCBB-37E4-3AD7-B8DB-D1DC0677B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F8C650D-866D-104B-00E1-5880B25D3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 panose="020F0502020204030204"/>
                <a:cs typeface="Calibri" panose="020F0502020204030204"/>
              </a:rPr>
              <a:t>Анализ существующих подходов к построению </a:t>
            </a:r>
            <a:r>
              <a:rPr lang="en-US" dirty="0">
                <a:ea typeface="Calibri" panose="020F0502020204030204"/>
                <a:cs typeface="Calibri" panose="020F0502020204030204"/>
              </a:rPr>
              <a:t>QA-</a:t>
            </a:r>
            <a:r>
              <a:rPr lang="ru-RU" dirty="0">
                <a:ea typeface="Calibri" panose="020F0502020204030204"/>
                <a:cs typeface="Calibri" panose="020F0502020204030204"/>
              </a:rPr>
              <a:t>систем показал, что разметка коллекции документов, используемых для построения </a:t>
            </a:r>
            <a:r>
              <a:rPr lang="en-US" dirty="0">
                <a:ea typeface="Calibri" panose="020F0502020204030204"/>
                <a:cs typeface="Calibri" panose="020F0502020204030204"/>
              </a:rPr>
              <a:t>QA-</a:t>
            </a:r>
            <a:r>
              <a:rPr lang="ru-RU" dirty="0">
                <a:ea typeface="Calibri" panose="020F0502020204030204"/>
                <a:cs typeface="Calibri" panose="020F0502020204030204"/>
              </a:rPr>
              <a:t>систем должна включать в себя 4 этапа: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 panose="020F0502020204030204"/>
                <a:cs typeface="Calibri" panose="020F0502020204030204"/>
              </a:rPr>
              <a:t>Выделение именованных сущностей –</a:t>
            </a:r>
            <a:r>
              <a:rPr lang="en-US" dirty="0">
                <a:ea typeface="Calibri" panose="020F0502020204030204"/>
                <a:cs typeface="Calibri" panose="020F0502020204030204"/>
              </a:rPr>
              <a:t>&gt; </a:t>
            </a:r>
            <a:r>
              <a:rPr lang="ru-RU" dirty="0">
                <a:ea typeface="Calibri" panose="020F0502020204030204"/>
                <a:cs typeface="Calibri" panose="020F0502020204030204"/>
              </a:rPr>
              <a:t>Построение словаря ПО -</a:t>
            </a:r>
            <a:r>
              <a:rPr lang="en-US" dirty="0">
                <a:ea typeface="Calibri" panose="020F0502020204030204"/>
                <a:cs typeface="Calibri" panose="020F0502020204030204"/>
              </a:rPr>
              <a:t>&gt; </a:t>
            </a:r>
            <a:r>
              <a:rPr lang="ru-RU" dirty="0">
                <a:ea typeface="Calibri" panose="020F0502020204030204"/>
                <a:cs typeface="Calibri" panose="020F0502020204030204"/>
              </a:rPr>
              <a:t>Разметка документов </a:t>
            </a:r>
            <a:r>
              <a:rPr lang="ru-RU" b="1" dirty="0">
                <a:ea typeface="Calibri" panose="020F0502020204030204"/>
                <a:cs typeface="Calibri" panose="020F0502020204030204"/>
              </a:rPr>
              <a:t>на основании сущностей </a:t>
            </a:r>
            <a:r>
              <a:rPr lang="en-US" dirty="0">
                <a:ea typeface="Calibri" panose="020F0502020204030204"/>
                <a:cs typeface="Calibri" panose="020F0502020204030204"/>
              </a:rPr>
              <a:t>-&gt; </a:t>
            </a:r>
            <a:r>
              <a:rPr lang="ru-RU" dirty="0">
                <a:ea typeface="Calibri" panose="020F0502020204030204"/>
                <a:cs typeface="Calibri" panose="020F0502020204030204"/>
              </a:rPr>
              <a:t>поиск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274AE2-015E-356F-DE2C-326CC29AB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575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/>
                <a:cs typeface="Calibri"/>
              </a:rPr>
              <a:t>При анализе предметной области была выделена группа пользователей </a:t>
            </a:r>
            <a:r>
              <a:rPr lang="ru-RU" b="1" dirty="0">
                <a:ea typeface="Calibri"/>
                <a:cs typeface="Calibri"/>
              </a:rPr>
              <a:t>СПЕЦИАЛИСТОВ</a:t>
            </a:r>
            <a:r>
              <a:rPr lang="ru-RU" dirty="0">
                <a:ea typeface="Calibri"/>
                <a:cs typeface="Calibri"/>
              </a:rPr>
              <a:t> и определены её задачи, представленные на слайде</a:t>
            </a:r>
          </a:p>
          <a:p>
            <a:endParaRPr lang="ru-RU" dirty="0"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422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9F16-6A5B-DEE2-B0EA-2EC49AEE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F1668B-D015-F2C5-572C-ECCC0DEDB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84C2BF5-CBA5-89D0-6D49-B60C253DB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 panose="020F0502020204030204"/>
                <a:cs typeface="Calibri" panose="020F0502020204030204"/>
              </a:rPr>
              <a:t>В магистерской работе прошлого года Сидельниковой Маргариты был предложен подход выделения именованных сущностей по типам словосочетаний. Каждая выделенная именованная сущность должна соответствовать одному из 7 основных типов словосочетаний</a:t>
            </a:r>
            <a:r>
              <a:rPr lang="en-US" dirty="0">
                <a:ea typeface="Calibri" panose="020F0502020204030204"/>
                <a:cs typeface="Calibri" panose="020F0502020204030204"/>
              </a:rPr>
              <a:t>.</a:t>
            </a:r>
            <a:r>
              <a:rPr lang="ru-RU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srgbClr val="92D050"/>
                </a:solidFill>
                <a:ea typeface="Calibri" panose="020F0502020204030204"/>
                <a:cs typeface="Calibri" panose="020F0502020204030204"/>
              </a:rPr>
              <a:t>НО В ПРЕДЛОЖЕННОМ МАРГАРИТОЙ АЛГОРИТМЕ УЧИТЫВАЛАСЬ ТОЛЬКО СТРУКТУРА СЛОВОСОЧЕТАНИЙ.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 panose="020F0502020204030204"/>
                <a:cs typeface="Calibri" panose="020F0502020204030204"/>
              </a:rPr>
              <a:t>Хотя определение типа словосочетания основывается не только на определении частей речи отдельных слов , но включает ещё и определение падежа слов, входящих в состав словосочетаний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2D974-0621-960D-1881-1C806736E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844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CB1E-160E-70BD-16D7-69BCF231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589548B-9078-8E0D-8BB3-06DA36482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603A0D4-B48D-D393-5C8F-3F7419708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 panose="020F0502020204030204"/>
                <a:cs typeface="Calibri" panose="020F0502020204030204"/>
              </a:rPr>
              <a:t>Например, предложенный подход отнесет «словами злой волк» к </a:t>
            </a:r>
            <a:r>
              <a:rPr lang="ru-RU" sz="1200" b="1" dirty="0" err="1"/>
              <a:t>Адъективно-генитивные</a:t>
            </a:r>
            <a:r>
              <a:rPr lang="ru-RU" sz="1200" b="1" dirty="0"/>
              <a:t> словосочетаниям, что является не верным, т.к. нет зависимости между «словами и волк»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1E7F10-BEA6-1864-194D-8D3347D09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399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C2DF7-0814-7F78-2BE0-601B53CD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87C738-48AD-9FE6-F140-AF30CB515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4C47F9A-12D0-90B2-18DC-663C30F11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 panose="020F0502020204030204"/>
                <a:cs typeface="Calibri" panose="020F0502020204030204"/>
              </a:rPr>
              <a:t>В рамках ВКР для выделения именованных сущностей был модифицирован подход, который включает в себя 4  основных этапа</a:t>
            </a:r>
            <a:r>
              <a:rPr lang="en-US" dirty="0">
                <a:ea typeface="Calibri" panose="020F0502020204030204"/>
                <a:cs typeface="Calibri" panose="020F0502020204030204"/>
              </a:rPr>
              <a:t>.</a:t>
            </a:r>
            <a:r>
              <a:rPr lang="ru-RU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более точного извлечения именованных сущностей важно чтобы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лемматизация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происходила после определения типа словосочетания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CB158C-0B2B-9861-5D4B-E37A2CD76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865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47880-3FFA-90FA-9A9A-161EFB53D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53A36C1-8806-305E-A748-19CD4C315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>
                <a:extLst>
                  <a:ext uri="{FF2B5EF4-FFF2-40B4-BE49-F238E27FC236}">
                    <a16:creationId xmlns:a16="http://schemas.microsoft.com/office/drawing/2014/main" id="{0048AB31-3FDA-CE1E-B465-7764B6FF49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dirty="0"/>
                  <a:t>Была составлена модель предметной области.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Одной из задач </a:t>
                </a:r>
                <a:r>
                  <a:rPr lang="en-US" dirty="0">
                    <a:ea typeface="Calibri" panose="020F0502020204030204"/>
                    <a:cs typeface="Calibri" panose="020F0502020204030204"/>
                  </a:rPr>
                  <a:t>RAG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является разделение на текстовые блоки</a:t>
                </a:r>
                <a:r>
                  <a:rPr lang="en-US" dirty="0">
                    <a:ea typeface="Calibri" panose="020F0502020204030204"/>
                    <a:cs typeface="Calibri" panose="020F0502020204030204"/>
                  </a:rPr>
                  <a:t>,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поэтому в данной работе построена модель</a:t>
                </a:r>
                <a:r>
                  <a:rPr lang="en-US" dirty="0">
                    <a:ea typeface="Calibri" panose="020F0502020204030204"/>
                    <a:cs typeface="Calibri" panose="020F0502020204030204"/>
                  </a:rPr>
                  <a:t>,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акцентирующуюся на этом</a:t>
                </a:r>
                <a:r>
                  <a:rPr lang="en-US" dirty="0">
                    <a:ea typeface="Calibri" panose="020F0502020204030204"/>
                    <a:cs typeface="Calibri" panose="020F0502020204030204"/>
                  </a:rPr>
                  <a:t>.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 Текст документа</a:t>
                </a:r>
                <a:r>
                  <a:rPr lang="ru-RU" baseline="0" dirty="0">
                    <a:ea typeface="Calibri" panose="020F0502020204030204"/>
                    <a:cs typeface="Calibri" panose="020F0502020204030204"/>
                  </a:rPr>
                  <a:t> это пара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 </a:t>
                </a:r>
                <a14:m>
                  <m:oMath xmlns:m="http://schemas.openxmlformats.org/officeDocument/2006/math">
                    <m:r>
                      <a:rPr lang="ru-RU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𝑩</m:t>
                    </m:r>
                    <m:r>
                      <a:rPr lang="en-US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𝒂𝒕𝒄</m:t>
                    </m:r>
                    <m:r>
                      <a:rPr lang="ru-RU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𝒉</m:t>
                    </m:r>
                    <m:r>
                      <a:rPr lang="en-US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𝒆𝒔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𝑏𝑎𝑡𝑐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множество блоков текста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𝑇𝑒𝑥𝑡</m:t>
                    </m:r>
                  </m:oMath>
                </a14:m>
                <a:r>
                  <a:rPr lang="ru-RU" dirty="0">
                    <a:ea typeface="Calibri" panose="020F0502020204030204"/>
                    <a:cs typeface="Calibri" panose="020F0502020204030204"/>
                  </a:rPr>
                  <a:t> и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𝑻𝒐𝒌𝒆𝒏𝒔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𝑡𝑜𝑘𝑒𝑛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множество различных токенов в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𝑇𝑒𝑥𝑡</m:t>
                    </m:r>
                  </m:oMath>
                </a14:m>
                <a:endParaRPr lang="ru-RU" dirty="0"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dirty="0">
                    <a:ea typeface="Calibri" panose="020F0502020204030204"/>
                    <a:cs typeface="Calibri" panose="020F0502020204030204"/>
                  </a:rPr>
                  <a:t>Словарь формируется на основании множества текстов документов, содержит множество именованных сущностей, выделенных из текстов при заданном пороговом значении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𝒕𝒇𝒊𝒅𝒇</m:t>
                    </m:r>
                  </m:oMath>
                </a14:m>
                <a:r>
                  <a:rPr lang="en-US" dirty="0">
                    <a:ea typeface="Calibri" panose="020F0502020204030204"/>
                    <a:cs typeface="Calibri" panose="020F0502020204030204"/>
                  </a:rPr>
                  <a:t>,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а</a:t>
                </a:r>
                <a:r>
                  <a:rPr lang="ru-RU" baseline="0" dirty="0">
                    <a:ea typeface="Calibri" panose="020F0502020204030204"/>
                    <a:cs typeface="Calibri" panose="020F0502020204030204"/>
                  </a:rPr>
                  <a:t> также включает в себя множество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терминов</a:t>
                </a:r>
                <a:r>
                  <a:rPr lang="en-US" baseline="0" dirty="0">
                    <a:ea typeface="Calibri" panose="020F0502020204030204"/>
                    <a:cs typeface="Calibri" panose="020F0502020204030204"/>
                  </a:rPr>
                  <a:t> </a:t>
                </a:r>
                <a:r>
                  <a:rPr lang="ru-RU" baseline="0" dirty="0">
                    <a:ea typeface="Calibri" panose="020F0502020204030204"/>
                    <a:cs typeface="Calibri" panose="020F0502020204030204"/>
                  </a:rPr>
                  <a:t>их синонимов и значений </a:t>
                </a:r>
                <a14:m>
                  <m:oMath xmlns:m="http://schemas.openxmlformats.org/officeDocument/2006/math">
                    <m:r>
                      <a:rPr lang="en-US" b="1" i="1" u="none" smtClean="0">
                        <a:latin typeface="Cambria Math" panose="02040503050406030204" pitchFamily="18" charset="0"/>
                      </a:rPr>
                      <m:t>𝑵𝒐𝒕𝒊𝒐𝒏𝑾𝒊𝒕𝒉𝑪𝒐𝒏𝒏𝒔</m:t>
                    </m:r>
                  </m:oMath>
                </a14:m>
                <a:r>
                  <a:rPr lang="en-US" b="0" u="none" dirty="0">
                    <a:ea typeface="Calibri" panose="020F0502020204030204"/>
                    <a:cs typeface="Calibri" panose="020F0502020204030204"/>
                  </a:rPr>
                  <a:t>.</a:t>
                </a:r>
                <a:endParaRPr lang="ru-RU" b="0" u="none" dirty="0"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 xmlns="">
          <p:sp>
            <p:nvSpPr>
              <p:cNvPr id="3" name="Заметки 2">
                <a:extLst>
                  <a:ext uri="{FF2B5EF4-FFF2-40B4-BE49-F238E27FC236}">
                    <a16:creationId xmlns:a16="http://schemas.microsoft.com/office/drawing/2014/main" id="{0048AB31-3FDA-CE1E-B465-7764B6FF49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dirty="0"/>
                  <a:t>Была составлена модель предметной области.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Одной из задач </a:t>
                </a:r>
                <a:r>
                  <a:rPr lang="en-US" dirty="0">
                    <a:ea typeface="Calibri" panose="020F0502020204030204"/>
                    <a:cs typeface="Calibri" panose="020F0502020204030204"/>
                  </a:rPr>
                  <a:t>RAG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является разделение на текстовые блоки</a:t>
                </a:r>
                <a:r>
                  <a:rPr lang="en-US" dirty="0">
                    <a:ea typeface="Calibri" panose="020F0502020204030204"/>
                    <a:cs typeface="Calibri" panose="020F0502020204030204"/>
                  </a:rPr>
                  <a:t>,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поэтому в данной работе построена модель</a:t>
                </a:r>
                <a:r>
                  <a:rPr lang="en-US" dirty="0">
                    <a:ea typeface="Calibri" panose="020F0502020204030204"/>
                    <a:cs typeface="Calibri" panose="020F0502020204030204"/>
                  </a:rPr>
                  <a:t>,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акцентирующуюся на этом</a:t>
                </a:r>
                <a:r>
                  <a:rPr lang="en-US" dirty="0">
                    <a:ea typeface="Calibri" panose="020F0502020204030204"/>
                    <a:cs typeface="Calibri" panose="020F0502020204030204"/>
                  </a:rPr>
                  <a:t>.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 Текст документа</a:t>
                </a:r>
                <a:r>
                  <a:rPr lang="ru-RU" baseline="0" dirty="0">
                    <a:ea typeface="Calibri" panose="020F0502020204030204"/>
                    <a:cs typeface="Calibri" panose="020F0502020204030204"/>
                  </a:rPr>
                  <a:t> это пара 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 </a:t>
                </a:r>
                <a:r>
                  <a:rPr lang="ru-RU" b="1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𝑩</a:t>
                </a:r>
                <a:r>
                  <a:rPr lang="en-US" b="1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𝒂𝒕𝒄</a:t>
                </a:r>
                <a:r>
                  <a:rPr lang="ru-RU" b="1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𝒉</a:t>
                </a:r>
                <a:r>
                  <a:rPr lang="en-US" b="1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𝒆𝒔</a:t>
                </a:r>
                <a:r>
                  <a:rPr lang="ru-RU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={</a:t>
                </a:r>
                <a:r>
                  <a:rPr lang="ru-RU" i="0">
                    <a:effectLst/>
                    <a:latin typeface="Cambria Math" panose="02040503050406030204" pitchFamily="18" charset="0"/>
                  </a:rPr>
                  <a:t>〖</a:t>
                </a:r>
                <a:r>
                  <a:rPr lang="en-US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𝑏𝑎𝑡𝑐</a:t>
                </a:r>
                <a:r>
                  <a:rPr lang="ru-RU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ℎ〗_</a:t>
                </a:r>
                <a:r>
                  <a:rPr lang="en-US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𝑖</a:t>
                </a:r>
                <a:r>
                  <a:rPr lang="ru-RU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}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множество блоков текста </a:t>
                </a:r>
                <a:r>
                  <a:rPr lang="en-US" i="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𝑇𝑒𝑥𝑡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 и </a:t>
                </a:r>
                <a:r>
                  <a:rPr lang="en-US" b="1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𝑻𝒐𝒌𝒆𝒏𝒔</a:t>
                </a:r>
                <a:r>
                  <a:rPr lang="ru-RU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={</a:t>
                </a:r>
                <a:r>
                  <a:rPr lang="ru-RU" i="0">
                    <a:effectLst/>
                    <a:latin typeface="Cambria Math" panose="02040503050406030204" pitchFamily="18" charset="0"/>
                  </a:rPr>
                  <a:t>〖</a:t>
                </a:r>
                <a:r>
                  <a:rPr lang="en-US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𝑡𝑜𝑘𝑒𝑛</a:t>
                </a:r>
                <a:r>
                  <a:rPr lang="ru-RU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〗_</a:t>
                </a:r>
                <a:r>
                  <a:rPr lang="en-US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𝑘</a:t>
                </a:r>
                <a:r>
                  <a:rPr lang="ru-RU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}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множество различных токенов в </a:t>
                </a:r>
                <a:r>
                  <a:rPr lang="en-US" i="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𝑇𝑒𝑥𝑡</a:t>
                </a:r>
                <a:endParaRPr lang="ru-RU" dirty="0"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dirty="0">
                    <a:ea typeface="Calibri" panose="020F0502020204030204"/>
                    <a:cs typeface="Calibri" panose="020F0502020204030204"/>
                  </a:rPr>
                  <a:t>Словарь –  формируется на основании множества текстов документов, содержит множество именованных сущностей , выделенных из текстов при заданном пороговом значении метода  </a:t>
                </a:r>
                <a:r>
                  <a:rPr lang="en-US" b="0" i="0">
                    <a:latin typeface="Cambria Math" panose="02040503050406030204" pitchFamily="18" charset="0"/>
                    <a:cs typeface="Calibri" panose="020F0502020204030204" pitchFamily="34" charset="0"/>
                  </a:rPr>
                  <a:t>",</a:t>
                </a:r>
                <a:r>
                  <a:rPr lang="ru-RU" b="0" i="0">
                    <a:latin typeface="Calibri" panose="020F0502020204030204" pitchFamily="34" charset="0"/>
                    <a:cs typeface="Calibri" panose="020F0502020204030204" pitchFamily="34" charset="0"/>
                  </a:rPr>
                  <a:t>"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b="1" i="0">
                    <a:latin typeface="Cambria Math" panose="02040503050406030204" pitchFamily="18" charset="0"/>
                  </a:rPr>
                  <a:t>𝒕𝒇𝒊𝒅𝒇</a:t>
                </a:r>
                <a:r>
                  <a:rPr lang="ru-RU" dirty="0">
                    <a:ea typeface="Calibri" panose="020F0502020204030204"/>
                    <a:cs typeface="Calibri" panose="020F0502020204030204"/>
                  </a:rPr>
                  <a:t> и </a:t>
                </a:r>
                <a:r>
                  <a:rPr lang="ru-RU" b="1" u="sng" dirty="0">
                    <a:ea typeface="Calibri" panose="020F0502020204030204"/>
                    <a:cs typeface="Calibri" panose="020F0502020204030204"/>
                  </a:rPr>
                  <a:t>ЧТО-ТО</a:t>
                </a:r>
                <a:r>
                  <a:rPr lang="ru-RU" b="1" u="sng" baseline="0" dirty="0">
                    <a:ea typeface="Calibri" panose="020F0502020204030204"/>
                    <a:cs typeface="Calibri" panose="020F0502020204030204"/>
                  </a:rPr>
                  <a:t> ДОБАВИТЬ ПРО  </a:t>
                </a:r>
                <a:r>
                  <a:rPr lang="en-US" b="1" i="0" u="sng">
                    <a:latin typeface="Cambria Math" panose="02040503050406030204" pitchFamily="18" charset="0"/>
                  </a:rPr>
                  <a:t>𝑵𝒐𝒕𝒊𝒐𝒏𝑾𝒊𝒕𝒉𝑪𝒐𝒏𝒏𝒔</a:t>
                </a:r>
                <a:endParaRPr lang="ru-RU" b="1" u="sng" dirty="0"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>
                  <a:ea typeface="Calibri" panose="020F0502020204030204"/>
                  <a:cs typeface="Calibri" panose="020F0502020204030204"/>
                </a:endParaRP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C95493-D167-7003-0B91-7167C0893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4764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DE3E-1386-79D8-095A-0E4F64BC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EFB69FD-0E56-DACD-B33B-EE84B3308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9218F0B-2A8B-FBDC-4B42-382536790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Был разработан метод выделения именованных сущностей из текстовых документов</a:t>
            </a:r>
            <a:r>
              <a:rPr lang="en-US" dirty="0"/>
              <a:t>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 panose="020F0502020204030204"/>
                <a:cs typeface="Calibri" panose="020F0502020204030204"/>
              </a:rPr>
              <a:t>Ему на вход поступает текстовый документ</a:t>
            </a:r>
            <a:r>
              <a:rPr lang="en-US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dirty="0">
                <a:ea typeface="Calibri" panose="020F0502020204030204"/>
                <a:cs typeface="Calibri" panose="020F0502020204030204"/>
              </a:rPr>
              <a:t>в результате обработки которого выделяются именованные сущности</a:t>
            </a:r>
            <a:r>
              <a:rPr lang="en-US" dirty="0">
                <a:ea typeface="Calibri" panose="020F0502020204030204"/>
                <a:cs typeface="Calibri" panose="020F0502020204030204"/>
              </a:rPr>
              <a:t>.</a:t>
            </a:r>
            <a:r>
              <a:rPr lang="ru-RU" dirty="0">
                <a:ea typeface="Calibri" panose="020F0502020204030204"/>
                <a:cs typeface="Calibri" panose="020F0502020204030204"/>
              </a:rPr>
              <a:t> В последствии эти именованные сущности формируют словарь с терминами</a:t>
            </a:r>
            <a:r>
              <a:rPr lang="en-US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dirty="0">
                <a:ea typeface="Calibri" panose="020F0502020204030204"/>
                <a:cs typeface="Calibri" panose="020F0502020204030204"/>
              </a:rPr>
              <a:t>их синонимами и значениями благодаря методу </a:t>
            </a:r>
            <a:r>
              <a:rPr lang="en-US" dirty="0">
                <a:ea typeface="Calibri" panose="020F0502020204030204"/>
                <a:cs typeface="Calibri" panose="020F0502020204030204"/>
              </a:rPr>
              <a:t>”</a:t>
            </a:r>
            <a:r>
              <a:rPr lang="ru-RU" dirty="0">
                <a:ea typeface="Calibri" panose="020F0502020204030204"/>
                <a:cs typeface="Calibri" panose="020F0502020204030204"/>
              </a:rPr>
              <a:t>Формирования словаря</a:t>
            </a:r>
            <a:r>
              <a:rPr lang="en-US" dirty="0">
                <a:ea typeface="Calibri" panose="020F0502020204030204"/>
                <a:cs typeface="Calibri" panose="020F0502020204030204"/>
              </a:rPr>
              <a:t>”.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A150EA-8786-B1A6-DA9D-3817ABD0D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3701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135FD-5584-811F-D17A-432C8E5FB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A5D4AA-7FEE-6983-1B96-6B2962873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B8A24CD-CEB4-A2A0-53A0-35C1EEA8D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 слайде представлен метод поиска по одному словосочетанию</a:t>
            </a:r>
            <a:r>
              <a:rPr lang="en-US" dirty="0"/>
              <a:t>.</a:t>
            </a:r>
            <a:r>
              <a:rPr lang="ru-RU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 panose="020F0502020204030204"/>
                <a:cs typeface="Calibri" panose="020F0502020204030204"/>
              </a:rPr>
              <a:t>Во время поиска находятся не просто все термины</a:t>
            </a:r>
            <a:r>
              <a:rPr lang="en-US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dirty="0">
                <a:ea typeface="Calibri" panose="020F0502020204030204"/>
                <a:cs typeface="Calibri" panose="020F0502020204030204"/>
              </a:rPr>
              <a:t>но и синонимы и значения</a:t>
            </a:r>
            <a:r>
              <a:rPr lang="en-US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dirty="0">
                <a:ea typeface="Calibri" panose="020F0502020204030204"/>
                <a:cs typeface="Calibri" panose="020F0502020204030204"/>
              </a:rPr>
              <a:t>а так же их места их места встречи в текстовых документах посредством косинусной схожести векторов</a:t>
            </a:r>
            <a:r>
              <a:rPr lang="en-US" dirty="0">
                <a:ea typeface="Calibri" panose="020F0502020204030204"/>
                <a:cs typeface="Calibri" panose="020F0502020204030204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85A56D-F0F8-3923-3D2C-B006EFA4D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937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7133C-B4C2-E5C8-D811-82970109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F61E83-DC1C-73FB-BE4B-4BB45E666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04DB5B8-76A2-B04D-C6FC-0AD605208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реализации прототипа системы </a:t>
            </a:r>
            <a:r>
              <a:rPr lang="ru-RU" sz="1800" cap="al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РАЗМЕТКИ ТЕКСТОВЫХ ДОКУМЕНТОВ.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Была выбрана архитектура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-приложения только с серверной частью.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Times New Roman" panose="02020603050405020304" pitchFamily="18" charset="0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На слайде представлена архитектурно-контекстная диаграмма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/>
              </a:rPr>
              <a:t>,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/>
              </a:rPr>
              <a:t>ж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ёлтым цветом на диаграмме выделены модули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отвечающие за разметку текстовых документов, а также поиск.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a typeface="Calibri"/>
                <a:cs typeface="Calibri"/>
              </a:rPr>
              <a:t>Так же на диаграмме представлено несколько слоёв абстракции в виде контроллеров</a:t>
            </a:r>
            <a:r>
              <a:rPr lang="en-US" dirty="0">
                <a:ea typeface="Calibri"/>
                <a:cs typeface="Calibri"/>
              </a:rPr>
              <a:t>,</a:t>
            </a:r>
            <a:r>
              <a:rPr lang="ru-RU" dirty="0">
                <a:ea typeface="Calibri"/>
                <a:cs typeface="Calibri"/>
              </a:rPr>
              <a:t> отвечающих за обработку запросов от </a:t>
            </a:r>
            <a:r>
              <a:rPr lang="en-US" dirty="0">
                <a:ea typeface="Calibri"/>
                <a:cs typeface="Calibri"/>
              </a:rPr>
              <a:t>web-</a:t>
            </a:r>
            <a:r>
              <a:rPr lang="ru-RU" dirty="0">
                <a:ea typeface="Calibri"/>
                <a:cs typeface="Calibri"/>
              </a:rPr>
              <a:t>сервера и репозиториев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ru-RU" dirty="0">
                <a:ea typeface="Calibri"/>
                <a:cs typeface="Calibri"/>
              </a:rPr>
              <a:t>отвечающих за работу с базой данных</a:t>
            </a:r>
            <a:r>
              <a:rPr lang="en-US" dirty="0">
                <a:ea typeface="Calibri"/>
                <a:cs typeface="Calibri"/>
              </a:rPr>
              <a:t>.</a:t>
            </a:r>
            <a:endParaRPr lang="ru-RU" dirty="0"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ea typeface="Calibri"/>
              <a:cs typeface="Calibri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D6B81C-65CA-AA9C-E4DB-C163C3B56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6586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5E3E-2AD8-40B8-B4A3-23FC4916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9CC6B7-CAA1-0BCB-C034-DF2854196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6FA14CC-53A0-1FE4-92F4-43CF3EB05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 из главных модулей системы — “Модуль NER”. Сначала текст делится на блоки. Затем с помощью компоненты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входит в RAG-подход, выделяются именованные сущности. После этого эти сущности сортируются и отбираются по значению TF-IDF: остаются только те, у которых этот показатель выше заданного порога.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C48AE6-A50F-BA71-F394-F43152D09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3475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97EB-4EF5-E65F-C54C-AAD2E2AD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6E9B199-C495-B06A-FDED-485346D69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F706CF3-FF38-BEA0-7FBB-ED9FFEA97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поиска помогает находить термины, синонимы, значения и места, где они встречаются в тексте. Он использует компонент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модуля NER, чтобы выделять именованные сущности из поискового запроса и искать похожие сущности в трёх последних словарях. После этого модуль находит текстовые блоки, в которых встречаются эти сущности.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98036A-5EF7-F518-62C9-BC41F7E39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235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</a:pPr>
            <a:r>
              <a:rPr lang="ru-RU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Приложение разработано на </a:t>
            </a:r>
            <a:r>
              <a:rPr lang="en-US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python</a:t>
            </a:r>
            <a:r>
              <a:rPr lang="ru-RU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 с использованием фреймворка для </a:t>
            </a:r>
            <a:r>
              <a:rPr lang="en-US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web-</a:t>
            </a:r>
            <a:r>
              <a:rPr lang="ru-RU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разработки </a:t>
            </a:r>
            <a:r>
              <a:rPr lang="en-US" sz="1800" b="0" dirty="0" err="1">
                <a:latin typeface="Times New Roman"/>
                <a:ea typeface="Times New Roman" panose="02020603050405020304" pitchFamily="18" charset="0"/>
                <a:cs typeface="Times New Roman"/>
              </a:rPr>
              <a:t>fastapi</a:t>
            </a:r>
            <a:r>
              <a:rPr lang="en-US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, </a:t>
            </a:r>
            <a:r>
              <a:rPr lang="ru-RU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способного рендерить </a:t>
            </a:r>
            <a:r>
              <a:rPr lang="en-US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jinja-</a:t>
            </a:r>
            <a:r>
              <a:rPr lang="ru-RU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шаблоны</a:t>
            </a:r>
            <a:r>
              <a:rPr lang="en-US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ru-RU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в формате </a:t>
            </a:r>
            <a:r>
              <a:rPr lang="en-US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html</a:t>
            </a:r>
            <a:r>
              <a:rPr lang="ru-RU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 с использованием </a:t>
            </a:r>
            <a:r>
              <a:rPr lang="en-US" sz="1800" b="0" dirty="0" err="1">
                <a:latin typeface="Times New Roman"/>
                <a:ea typeface="Times New Roman" panose="02020603050405020304" pitchFamily="18" charset="0"/>
                <a:cs typeface="Times New Roman"/>
              </a:rPr>
              <a:t>css</a:t>
            </a:r>
            <a:r>
              <a:rPr lang="en-US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ru-RU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и </a:t>
            </a:r>
            <a:r>
              <a:rPr lang="en-US" sz="1800" b="0" dirty="0" err="1">
                <a:latin typeface="Times New Roman"/>
                <a:ea typeface="Times New Roman" panose="02020603050405020304" pitchFamily="18" charset="0"/>
                <a:cs typeface="Times New Roman"/>
              </a:rPr>
              <a:t>js</a:t>
            </a:r>
            <a:r>
              <a:rPr lang="en-US" sz="1800" b="0" dirty="0">
                <a:latin typeface="Times New Roman"/>
                <a:ea typeface="Times New Roman" panose="02020603050405020304" pitchFamily="18" charset="0"/>
                <a:cs typeface="Times New Roman"/>
              </a:rPr>
              <a:t>.</a:t>
            </a:r>
            <a:endParaRPr lang="ru-RU" sz="1800" b="0" dirty="0">
              <a:effectLst/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indent="0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Прочие использованные технологии представлены на слайде</a:t>
            </a:r>
            <a:r>
              <a:rPr lang="en-US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.</a:t>
            </a:r>
            <a:endParaRPr lang="ru-RU" sz="1800" dirty="0">
              <a:effectLst/>
              <a:latin typeface="Times New Roman"/>
              <a:ea typeface="Times New Roman" panose="02020603050405020304" pitchFamily="18" charset="0"/>
              <a:cs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5113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 было проведено два эксперимента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одного из экспериментов было показать эффективность поиска актуальной информации по размеченной коллекции документов по сравнению с классическим полнотекстовым поиском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295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5D5BE-C0D6-745A-2CBF-ED9EAA7D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4A478F5-BDF2-488C-2A1C-3E044250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7882270-DD20-BD6A-17E8-A8F33FB08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Программой с полнотекстовым поиском был выбран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Просмотр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MacOS.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Текстовый документ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ПДД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Формированием словаря занимался 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сам являюсь водителем и разбираюсь в предметной области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сравнении поисков поиск по коллекции документов показал себя лучше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Учёте синонимов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Нечётком поиске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нужно учитывать разные формы слов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Поиске пересечений нескольких словосочетаний в текстовых блоках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же при тестировании поиска на документах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Правила приема на обучение по образовательным программам высшего образования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2024-2025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2025-2026 года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было выявлено что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Просмотр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может искать одновременно по нескольким документам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527C57-E32D-0B46-1D61-4E1DFE17C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6902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результате выполнения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ВКР была разработана система автоматизированной разметки текстовых документов для вопросно-ответных систем. Эффективность предложенного метода подтверждена экспериментом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3600" dirty="0">
              <a:solidFill>
                <a:srgbClr val="000000"/>
              </a:solidFill>
              <a:effectLst/>
              <a:latin typeface="Roboto"/>
              <a:ea typeface="Roboto"/>
              <a:cs typeface="Roboto"/>
            </a:endParaRPr>
          </a:p>
          <a:p>
            <a:pPr indent="0" algn="just">
              <a:lnSpc>
                <a:spcPct val="150000"/>
              </a:lnSpc>
            </a:pPr>
            <a:r>
              <a:rPr lang="ru-RU" sz="3600" dirty="0">
                <a:solidFill>
                  <a:srgbClr val="000000"/>
                </a:solidFill>
                <a:effectLst/>
                <a:latin typeface="Roboto"/>
                <a:ea typeface="Roboto"/>
                <a:cs typeface="Roboto"/>
              </a:rPr>
              <a:t>Таким образом, были решены все задачи, выделенные для достижения цели, поставленной в выпускной работе</a:t>
            </a:r>
            <a:r>
              <a:rPr lang="en-US" sz="3600" dirty="0">
                <a:solidFill>
                  <a:srgbClr val="000000"/>
                </a:solidFill>
                <a:effectLst/>
                <a:latin typeface="Roboto"/>
                <a:ea typeface="Roboto"/>
                <a:cs typeface="Roboto"/>
              </a:rPr>
              <a:t>.</a:t>
            </a:r>
            <a:endParaRPr lang="ru-RU" sz="3600" dirty="0">
              <a:effectLst/>
              <a:latin typeface="Roboto"/>
              <a:ea typeface="Roboto"/>
              <a:cs typeface="Roboto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264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</a:pPr>
            <a:r>
              <a:rPr lang="ru-RU" sz="3600" dirty="0">
                <a:latin typeface="Roboto"/>
                <a:ea typeface="Roboto"/>
                <a:cs typeface="Roboto"/>
              </a:rPr>
              <a:t>Я готов приступить к</a:t>
            </a:r>
            <a:r>
              <a:rPr lang="ru-RU" sz="3600" dirty="0">
                <a:effectLst/>
                <a:latin typeface="Roboto"/>
                <a:ea typeface="Roboto"/>
                <a:cs typeface="Roboto"/>
              </a:rPr>
              <a:t> демонстрации</a:t>
            </a:r>
            <a:r>
              <a:rPr lang="en-US" sz="3600" dirty="0">
                <a:effectLst/>
                <a:latin typeface="Roboto"/>
                <a:ea typeface="Roboto"/>
                <a:cs typeface="Roboto"/>
              </a:rPr>
              <a:t>.</a:t>
            </a:r>
            <a:endParaRPr lang="ru-RU" sz="3600" dirty="0">
              <a:effectLst/>
              <a:latin typeface="Roboto"/>
              <a:ea typeface="Roboto"/>
              <a:cs typeface="Roboto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1153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у меня всё</a:t>
            </a:r>
            <a:r>
              <a:rPr lang="en-US" dirty="0"/>
              <a:t>, </a:t>
            </a:r>
            <a:r>
              <a:rPr lang="ru-RU" dirty="0"/>
              <a:t>спасибо за внимание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2472-422A-41E0-834D-5A3B2DA5268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708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2DAF-EAE4-693F-C289-222B5AC1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C041AAA-EFE6-5EB3-27AA-154D08E48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D9BDAF-1722-5A8B-063B-4798468CF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</a:pPr>
            <a:endParaRPr lang="ru-RU" sz="3600" dirty="0">
              <a:effectLst/>
              <a:latin typeface="Roboto"/>
              <a:ea typeface="Roboto"/>
              <a:cs typeface="Roboto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3C9436-EAA0-C5F9-C0BF-548E88BE9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7221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F990-B0A4-406C-7DD1-97A12CAC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C588ED-DE16-AA4F-533E-81FA74288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FCA132-88FA-EEFB-E7ED-1F3243E80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</a:pPr>
            <a:endParaRPr lang="ru-RU" sz="3600" dirty="0">
              <a:effectLst/>
              <a:latin typeface="Roboto"/>
              <a:ea typeface="Roboto"/>
              <a:cs typeface="Roboto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FDDFDE-7CA1-4635-5CCF-7928181C6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7268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287C4-C7D5-49F5-0B52-9007CDD1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C9EA3E5-F52A-0F74-B04A-62F343E5F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4730DB-CAEA-0EC3-255E-9F03A22E9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</a:pPr>
            <a:endParaRPr lang="ru-RU" sz="3600" dirty="0">
              <a:effectLst/>
              <a:latin typeface="Roboto"/>
              <a:ea typeface="Roboto"/>
              <a:cs typeface="Roboto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D2B661-B685-5BDA-41BA-8837D3232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B22B-6989-4BF0-AB8C-A69392D908D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1634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NER </a:t>
            </a:r>
            <a:r>
              <a:rPr lang="ru-RU" dirty="0">
                <a:ea typeface="Calibri" panose="020F0502020204030204"/>
                <a:cs typeface="Calibri" panose="020F0502020204030204"/>
              </a:rPr>
              <a:t>не способна находить синонимы и значения выделенных сущностей без использования машинного обучения</a:t>
            </a:r>
            <a:r>
              <a:rPr lang="en-US" dirty="0">
                <a:ea typeface="Calibri" panose="020F0502020204030204"/>
                <a:cs typeface="Calibri" panose="020F0502020204030204"/>
              </a:rPr>
              <a:t>.</a:t>
            </a:r>
            <a:br>
              <a:rPr lang="ru-RU" dirty="0">
                <a:ea typeface="Calibri" panose="020F0502020204030204"/>
                <a:cs typeface="Calibri" panose="020F0502020204030204"/>
              </a:rPr>
            </a:br>
            <a:r>
              <a:rPr lang="ru-RU" dirty="0">
                <a:ea typeface="Calibri" panose="020F0502020204030204"/>
                <a:cs typeface="Calibri" panose="020F0502020204030204"/>
              </a:rPr>
              <a:t>В таких случаях прибегают к комбинированному подходу</a:t>
            </a:r>
            <a:r>
              <a:rPr lang="en-US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dirty="0">
                <a:ea typeface="Calibri" panose="020F0502020204030204"/>
                <a:cs typeface="Calibri" panose="020F0502020204030204"/>
              </a:rPr>
              <a:t>который включает в себя ещё и определение синонимов и значений</a:t>
            </a:r>
            <a:r>
              <a:rPr lang="en-US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dirty="0">
                <a:ea typeface="Calibri" panose="020F0502020204030204"/>
                <a:cs typeface="Calibri" panose="020F0502020204030204"/>
              </a:rPr>
              <a:t>получая в итоге словарь</a:t>
            </a:r>
            <a:r>
              <a:rPr lang="en-US" dirty="0">
                <a:ea typeface="Calibri" panose="020F0502020204030204"/>
                <a:cs typeface="Calibri" panose="020F0502020204030204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1D242-F490-4F87-B996-FBCB4E7FC54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793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C68C9-27E8-040B-8C04-63BB3FDE3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225149-E9CE-E344-C01E-72812CDEE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B4C341-FB1D-A846-FC51-6C416D2FA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5A4A-4622-4E5E-A3A6-72D9C1ED1B47}" type="datetime1">
              <a:rPr lang="ru-RU" smtClean="0"/>
              <a:t>06.07.2025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7AD5-5101-D403-AF2F-04AC40246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73F420-9FBB-DD03-15B4-4A5F574A6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92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D89B8-09F0-61F1-174C-97B8794A8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78D31-210D-D150-0993-BB685FAB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02CC38-D50C-3A82-F6FB-F50A87A4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D0E68-2294-4AB6-921E-4A3422292A1B}" type="datetime1">
              <a:rPr lang="ru-RU" smtClean="0"/>
              <a:t>06.07.2025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49998A-4778-08B6-E69B-1196CCFD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9E737-9377-1739-AF6C-F8818D4F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26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70E33-9231-F013-7C6A-645A1922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2742D6-22B9-96A0-47E0-A51A54B20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07C1D3-C1CE-79E0-6299-A74594448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0043-C7F8-4F25-BCAF-44D5896DC2E7}" type="datetime1">
              <a:rPr lang="ru-RU" smtClean="0"/>
              <a:t>06.07.2025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188813-41D5-CC04-A85E-302506EF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2C43B5-AE71-837D-E5DA-B186FDBE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77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82501-0915-8132-768E-90AA7D07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7F9577-E48A-3640-C24F-35F2308EF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24B692-7FC8-8393-A147-8087D2134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15054-33E4-27BC-575C-A414EE9B3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5954-DACC-4F94-9BC7-41E25ED78F04}" type="datetime1">
              <a:rPr lang="ru-RU" smtClean="0"/>
              <a:t>06.07.2025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E13ABE-1B90-CEDA-2502-E7050712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996FB7-441F-6BA9-E37B-C1D1BC6A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11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38848-D81B-FC82-015B-E017515A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6E1F10-3E77-04B8-E7B5-BB92461DB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CA338E-A5FD-23E0-3B26-D1263B631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7D8A6A-CB6A-5EFF-A81B-A5017E1B8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523E14-5A60-F6ED-9421-499F82E57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AA3762-54DD-3909-3EB2-16D45F21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7079-2D3D-4A55-979D-AB1FA3C997D7}" type="datetime1">
              <a:rPr lang="ru-RU" smtClean="0"/>
              <a:t>06.07.2025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EE354C-1CC4-F0D3-4A99-F1A331B7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4F8854-BBE5-1F35-AA5F-CF82CC49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246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D9E68-CF7F-D023-F1FC-267A44F2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E19B5A-F5B6-038F-4795-5BAC9517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57918-3CA2-4C1D-BD77-B8E622915866}" type="datetime1">
              <a:rPr lang="ru-RU" smtClean="0"/>
              <a:t>06.07.2025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9E021D-AE58-B578-9322-EEE8DFEF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85D945-8518-DC2B-25CC-24C6A6E7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41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B30160-9ECB-9681-F214-3F444B42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8BFDD-8CFE-46AF-AB5F-D2AC16257F9C}" type="datetime1">
              <a:rPr lang="ru-RU" smtClean="0"/>
              <a:t>06.07.2025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D301DF7-A356-2859-75A1-2B8496F9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A239DB-00A8-0365-DA65-6D8FB09B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4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37DAC-A21A-9229-CD59-50EF5B7E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75BDD0-4825-1B05-F4DA-D6D2CEC41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A9FAE1-DADC-2EB4-A43F-2CBBCC572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16ED07-74AA-88AB-86BA-D31D186D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34B1-A3CF-4F53-8ACD-A6D4059B2A95}" type="datetime1">
              <a:rPr lang="ru-RU" smtClean="0"/>
              <a:t>06.07.2025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833FF6-412D-5938-C064-BBFF55C13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3A6FFF-8CC4-5992-2200-9ACA2058D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09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6325B-093F-CDD4-E0C1-459E6A69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768A34-5C1C-9734-2A02-9B634CE57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093093-4BF8-A60D-2921-3F80C5311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B21764-E10A-0916-0774-C54810C0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41AC-75CD-4CC5-8C69-1E78B728222A}" type="datetime1">
              <a:rPr lang="ru-RU" smtClean="0"/>
              <a:t>06.07.2025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047E26-497B-7927-02C4-92F5B1F9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648B02-06C2-C2A4-B2FA-223799E5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74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F5FFB-A9CA-A170-F948-2AEF6ED8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2824F1-AA25-A11A-9704-E9537ECA3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31618-006C-87A2-FF7A-7EFDC17E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BA69-B400-4A1C-80B3-441C04AA955C}" type="datetime1">
              <a:rPr lang="ru-RU" smtClean="0"/>
              <a:t>06.07.2025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AEE306-B67F-3ACE-E0B7-D8F014F5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BC386C-A96D-B35D-151B-21ACE730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32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62E98B-0AB8-0E4C-7081-31C5CEAD9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1FB952-5818-8C5F-65CA-3D172D5B9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DE8F98-38F5-303A-611B-42F17F38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751E-B9E6-41BE-A177-F463F670493B}" type="datetime1">
              <a:rPr lang="ru-RU" smtClean="0"/>
              <a:t>06.07.2025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85309B-BEE2-D095-A15E-4F8A03C8E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48F730-A4B2-30C0-8F7B-374FD45C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807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ДВФУ">
            <a:extLst>
              <a:ext uri="{FF2B5EF4-FFF2-40B4-BE49-F238E27FC236}">
                <a16:creationId xmlns:a16="http://schemas.microsoft.com/office/drawing/2014/main" id="{4A04CB0D-5EC1-42A3-9105-7007FB990B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62" y="322572"/>
            <a:ext cx="2494506" cy="1537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80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3939A-9559-0644-7E4E-EA587F4A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5D810E-97F9-9A36-B80F-D637201AC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6EF4A4-9661-BF4F-1349-809F4E1E4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128F9-D8B2-4F1A-AA6F-E207B234B1B0}" type="datetime1">
              <a:rPr lang="ru-RU" smtClean="0"/>
              <a:t>06.07.2025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B94452-0956-4D01-B7B3-BBBB10CC4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53522B-AC69-D06C-A396-8B33B166D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10391-24FC-439E-8B67-98451B78CD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9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0E18932-9E7D-4F66-BDC2-A73AD5C7906D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38480" y="2496013"/>
            <a:ext cx="11515039" cy="865173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cap="al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АВТОМАТИЗАЦИЯ ПРОЦЕССА РАЗМЕТКИ ТЕКСТОВЫХ ДОКУМЕНТОВ</a:t>
            </a:r>
            <a:br>
              <a:rPr lang="en-US" sz="2400" cap="al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ru-RU" sz="2400" cap="al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ВОПРОСНО-ОТВЕТНОЙ СИСТЕМЫ С РАЗМЕЧЕННОЙ КОЛЛЕКЦИЕЙ ДОКУМЕНТОВ</a:t>
            </a:r>
            <a:endParaRPr lang="ru-RU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DDB70253-DCAA-497B-9469-FCC820992AFD}"/>
                  </a:ext>
                </a:extLst>
              </p14:cNvPr>
              <p14:cNvContentPartPr/>
              <p14:nvPr/>
            </p14:nvContentPartPr>
            <p14:xfrm>
              <a:off x="8815174" y="1335596"/>
              <a:ext cx="360" cy="36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DDB70253-DCAA-497B-9469-FCC820992A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6174" y="132659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23A715-C77A-2C16-1320-FE0E52E94C3A}"/>
              </a:ext>
            </a:extLst>
          </p:cNvPr>
          <p:cNvSpPr txBox="1">
            <a:spLocks/>
          </p:cNvSpPr>
          <p:nvPr/>
        </p:nvSpPr>
        <p:spPr>
          <a:xfrm>
            <a:off x="6231119" y="4284781"/>
            <a:ext cx="5622400" cy="153202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Выполнил: </a:t>
            </a:r>
            <a:r>
              <a:rPr lang="ru-RU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студент группы М9123-01.04.02пми</a:t>
            </a:r>
            <a:r>
              <a:rPr lang="en-US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, </a:t>
            </a:r>
            <a:r>
              <a:rPr lang="ru-RU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Хмелевский Е</a:t>
            </a:r>
            <a:r>
              <a:rPr lang="en-US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.</a:t>
            </a:r>
            <a:r>
              <a:rPr lang="ru-RU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 Д</a:t>
            </a:r>
            <a:r>
              <a:rPr lang="en-US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.</a:t>
            </a:r>
            <a:endParaRPr lang="ru-RU" sz="2000" dirty="0">
              <a:latin typeface="Calibri" panose="020F0502020204030204" pitchFamily="34" charset="0"/>
              <a:ea typeface="Roboto" panose="02000000000000000000" pitchFamily="2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000" b="1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Научный руководитель: </a:t>
            </a:r>
            <a:r>
              <a:rPr lang="ru-RU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доцент департамента</a:t>
            </a:r>
            <a:r>
              <a:rPr lang="en-US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 </a:t>
            </a:r>
            <a:r>
              <a:rPr lang="ru-RU" sz="2000" dirty="0" err="1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ПИиИИ</a:t>
            </a:r>
            <a:r>
              <a:rPr lang="ru-RU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, к.т.н. Остроухова С</a:t>
            </a:r>
            <a:r>
              <a:rPr lang="en-US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.</a:t>
            </a:r>
            <a:r>
              <a:rPr lang="ru-RU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 Н</a:t>
            </a:r>
            <a:r>
              <a:rPr lang="en-US" sz="2000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rPr>
              <a:t>.</a:t>
            </a:r>
            <a:endParaRPr lang="ru-RU" sz="2000" dirty="0">
              <a:latin typeface="Calibri" panose="020F0502020204030204" pitchFamily="34" charset="0"/>
              <a:ea typeface="Roboto"/>
              <a:cs typeface="Calibri" panose="020F0502020204030204" pitchFamily="34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719C9478-28DF-C048-07B1-73685EE21418}"/>
              </a:ext>
            </a:extLst>
          </p:cNvPr>
          <p:cNvSpPr txBox="1">
            <a:spLocks/>
          </p:cNvSpPr>
          <p:nvPr/>
        </p:nvSpPr>
        <p:spPr>
          <a:xfrm>
            <a:off x="5032512" y="6309482"/>
            <a:ext cx="2126974" cy="29141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Владивосток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196193-4259-444F-9B08-3F87B1FECE4E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395DE0-8916-BAFF-1521-F06447C1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</a:t>
            </a:fld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ADAD600-1B5C-71B8-A628-369296D5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Проблемы поисковых систем</a:t>
            </a:r>
          </a:p>
        </p:txBody>
      </p:sp>
      <p:pic>
        <p:nvPicPr>
          <p:cNvPr id="1026" name="Picture 2" descr="Создание интеллектуальной вопросно-ответной системы / Хабр">
            <a:extLst>
              <a:ext uri="{FF2B5EF4-FFF2-40B4-BE49-F238E27FC236}">
                <a16:creationId xmlns:a16="http://schemas.microsoft.com/office/drawing/2014/main" id="{8127F48C-2218-3038-7BE4-67355E639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526" y="1690688"/>
            <a:ext cx="8022947" cy="425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952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16555-278F-4034-A084-81472980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63278B-F95E-4A20-A4F9-14D64DFE3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062" y="1767159"/>
            <a:ext cx="11250202" cy="4725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Цель: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автоматизация процесса разметки текстовых документов для вопросно-ответных систем на основе размеченной коллекции документов. </a:t>
            </a:r>
          </a:p>
          <a:p>
            <a:pPr marL="0" indent="0" algn="just">
              <a:buNone/>
            </a:pP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Задачи:</a:t>
            </a:r>
          </a:p>
          <a:p>
            <a:pPr marL="0" indent="4445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Обзор подходов и методов разметки текстовых документов.</a:t>
            </a:r>
          </a:p>
          <a:p>
            <a:pPr marL="0" lvl="0" indent="4445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Анализ предметной области «Разметка текстовых документов» и построение её модели.</a:t>
            </a:r>
          </a:p>
          <a:p>
            <a:pPr marL="0" lvl="0" indent="4445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Проектирование системы разметки текстовых документов вопросно-ответной системы с размеченной коллекцией документов и реализация её прототипа.</a:t>
            </a:r>
          </a:p>
          <a:p>
            <a:pPr marL="0" lvl="0" indent="4445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Тестирование прототипа и экспериментальное исследование.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196193-4259-444F-9B08-3F87B1FECE4E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395DE0-8916-BAFF-1521-F06447C1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B7F283-C1C2-7A0D-A634-2ED57F2DE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974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5A377-97C3-FA21-0757-97FFBBBE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95E77-7011-5A2E-94D7-E1325303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11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Вопросно-ответная система и её типы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DC7A0AC-CA1B-8927-A57E-2421FC9952CF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CE0F79-2440-39B2-734D-24CE75F0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4</a:t>
            </a:fld>
            <a:endParaRPr lang="ru-RU"/>
          </a:p>
        </p:txBody>
      </p:sp>
      <p:sp>
        <p:nvSpPr>
          <p:cNvPr id="9" name="Нижний колонтитул 5">
            <a:extLst>
              <a:ext uri="{FF2B5EF4-FFF2-40B4-BE49-F238E27FC236}">
                <a16:creationId xmlns:a16="http://schemas.microsoft.com/office/drawing/2014/main" id="{10A541D2-14AD-752A-020C-49B6F60E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Обзор подходов и методов разметки текстовых документов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4DA3C86-A2A7-71EA-7E3D-1D08C503E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01" y="1757999"/>
            <a:ext cx="5927558" cy="125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ED03DC8-E318-4AC0-C2FD-8B1B32D34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559" y="1796541"/>
            <a:ext cx="5827542" cy="1250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32150F7-490B-CB8B-481D-A57490658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63" y="3514094"/>
            <a:ext cx="5827542" cy="226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F604CEF1-39FB-E260-9576-ABE2A9E71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096" y="3514094"/>
            <a:ext cx="5781005" cy="209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04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1E475AF-09B2-4988-85C6-6260AE43529D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C1E35D-550E-0204-46D6-F0E97C5D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5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AFE2615-604E-C54C-2A23-0E060FF9396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Retrieval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Augmented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 Generation (RAG)  (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1/2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" name="Нижний колонтитул 5">
            <a:extLst>
              <a:ext uri="{FF2B5EF4-FFF2-40B4-BE49-F238E27FC236}">
                <a16:creationId xmlns:a16="http://schemas.microsoft.com/office/drawing/2014/main" id="{7FAF11AA-53B3-525F-EAAD-DE8C8320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Обзор подходов и методов разметки текстовых документов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0C1FE84-540F-62A0-4DEE-163FA2A838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10" r="35164" b="18735"/>
          <a:stretch>
            <a:fillRect/>
          </a:stretch>
        </p:blipFill>
        <p:spPr bwMode="auto">
          <a:xfrm>
            <a:off x="711698" y="1785622"/>
            <a:ext cx="10768603" cy="219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B44AFDE-3691-38C8-44D4-B811E1A9C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73" t="24310" b="18735"/>
          <a:stretch>
            <a:fillRect/>
          </a:stretch>
        </p:blipFill>
        <p:spPr bwMode="auto">
          <a:xfrm>
            <a:off x="3865744" y="3985479"/>
            <a:ext cx="7614557" cy="234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72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295C-79DC-A281-FAD0-AC2DB155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BF3937E-6816-A3FD-1455-2068F85BC7A6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A809BA8-C204-966C-663C-83E2363B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6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6308DA1-5EAC-0056-CD54-23434287A28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Retrieval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Augmented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 Generation (RAG)  (2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2)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ADB729C-D247-96A4-1A81-9E3AA9BC6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062" y="1767159"/>
            <a:ext cx="11250202" cy="4725714"/>
          </a:xfrm>
        </p:spPr>
        <p:txBody>
          <a:bodyPr>
            <a:normAutofit/>
          </a:bodyPr>
          <a:lstStyle/>
          <a:p>
            <a:pPr marL="0" indent="4445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Сбор и подготовка данных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44500" lvl="1" indent="457200" algn="just">
              <a:buFont typeface="Wingdings" panose="05000000000000000000" pitchFamily="2" charset="2"/>
              <a:buChar char="Ø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Сбор источников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документы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статьи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44500" lvl="1" indent="457200" algn="just">
              <a:buFont typeface="Wingdings" panose="05000000000000000000" pitchFamily="2" charset="2"/>
              <a:buChar char="Ø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Очистка данных</a:t>
            </a:r>
          </a:p>
          <a:p>
            <a:pPr marL="444500" lvl="1" indent="457200" algn="just"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Разделение на фрагменты</a:t>
            </a:r>
          </a:p>
          <a:p>
            <a:pPr marL="0" indent="444500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Аннотирование и структурирование данных</a:t>
            </a:r>
          </a:p>
          <a:p>
            <a:pPr marL="444500" lvl="1" indent="457200">
              <a:buFont typeface="Wingdings" panose="05000000000000000000" pitchFamily="2" charset="2"/>
              <a:buChar char="Ø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Аннотация: маркировка фрагментов по темам, категориям и т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44500" lvl="1" indent="457200"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Извлечение именованных сущностей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444500">
              <a:buFont typeface="+mj-lt"/>
              <a:buAutoNum type="arabicPeriod"/>
            </a:pP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Индексация и векторизация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444500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Построение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RAG</a:t>
            </a:r>
            <a:b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Нижний колонтитул 5">
            <a:extLst>
              <a:ext uri="{FF2B5EF4-FFF2-40B4-BE49-F238E27FC236}">
                <a16:creationId xmlns:a16="http://schemas.microsoft.com/office/drawing/2014/main" id="{40A8D426-0E62-39F8-BA3D-A6D749C5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Обзор подходов и методов разметки текстовых документов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68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CB6E5-480F-4DC5-BB3F-DD3D35ABE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11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Извлечение именованных сущностей</a:t>
            </a:r>
            <a:r>
              <a:rPr lang="en-US" sz="4000" dirty="0"/>
              <a:t> (NER)</a:t>
            </a:r>
            <a:endParaRPr lang="ru-RU" sz="40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F7EBC7C-EE20-4278-86BC-38770E9A4E2F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0B86E7-4E41-2D0B-DB5C-8009BA4D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7</a:t>
            </a:fld>
            <a:endParaRPr lang="ru-RU"/>
          </a:p>
        </p:txBody>
      </p:sp>
      <p:sp>
        <p:nvSpPr>
          <p:cNvPr id="9" name="Нижний колонтитул 5">
            <a:extLst>
              <a:ext uri="{FF2B5EF4-FFF2-40B4-BE49-F238E27FC236}">
                <a16:creationId xmlns:a16="http://schemas.microsoft.com/office/drawing/2014/main" id="{3A035DA0-17B8-FA50-8741-189BA151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Обзор подходов и методов разметки текстовых документов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A7C809-2241-3E5A-DA76-F9F144C96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062" y="1570621"/>
            <a:ext cx="11250202" cy="4855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Именованная сущность</a:t>
            </a:r>
            <a:r>
              <a:rPr lang="en-US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(Named Entity) </a:t>
            </a:r>
            <a:r>
              <a:rPr lang="en-US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ru-RU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выделенный из текста уникальный объект (значимое словосочетание)</a:t>
            </a:r>
            <a:r>
              <a:rPr lang="en-US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для которого не определена категория</a:t>
            </a:r>
            <a:r>
              <a:rPr lang="en-US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 которой она относится</a:t>
            </a:r>
            <a:r>
              <a:rPr lang="en-US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ru-RU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Шаги извлечения</a:t>
            </a:r>
            <a:r>
              <a:rPr lang="en-US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Поиск кандидатов в именованные сущности</a:t>
            </a:r>
          </a:p>
          <a:p>
            <a:pPr marL="444500" lvl="1" indent="457200"/>
            <a:r>
              <a:rPr lang="ru-R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Предобработка слов: </a:t>
            </a:r>
            <a:r>
              <a:rPr lang="ru-RU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стемминг</a:t>
            </a:r>
            <a:r>
              <a:rPr lang="ru-R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лемматизация</a:t>
            </a:r>
            <a:r>
              <a:rPr lang="ru-R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44500" lvl="1" indent="457200"/>
            <a:r>
              <a:rPr lang="ru-R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Формирование словосочетаний: </a:t>
            </a:r>
            <a:r>
              <a:rPr lang="ru-RU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токенизация</a:t>
            </a:r>
            <a:r>
              <a:rPr lang="ru-R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N-граммы, фильтрация по частям речи.</a:t>
            </a:r>
          </a:p>
          <a:p>
            <a:pPr marL="0" indent="444500" algn="l">
              <a:buFont typeface="+mj-lt"/>
              <a:buAutoNum type="arabicPeriod"/>
            </a:pPr>
            <a:r>
              <a:rPr lang="ru-RU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Выделение признаков</a:t>
            </a:r>
          </a:p>
          <a:p>
            <a:pPr marL="444500" lvl="1" indent="457200"/>
            <a:r>
              <a:rPr lang="ru-R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Синтаксические: части речи, лексические ресурсы.</a:t>
            </a:r>
          </a:p>
          <a:p>
            <a:pPr marL="444500" lvl="1" indent="457200"/>
            <a:r>
              <a:rPr lang="ru-R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Статистические: частота, длина, схожесть с другими кандидатами.</a:t>
            </a:r>
          </a:p>
          <a:p>
            <a:pPr marL="0" indent="444500" algn="l">
              <a:buFont typeface="+mj-lt"/>
              <a:buAutoNum type="arabicPeriod"/>
            </a:pPr>
            <a:r>
              <a:rPr lang="ru-RU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Ранжирование и отсечение</a:t>
            </a:r>
            <a:r>
              <a:rPr lang="en-US" sz="24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сущностей.</a:t>
            </a:r>
          </a:p>
        </p:txBody>
      </p:sp>
    </p:spTree>
    <p:extLst>
      <p:ext uri="{BB962C8B-B14F-4D97-AF65-F5344CB8AC3E}">
        <p14:creationId xmlns:p14="http://schemas.microsoft.com/office/powerpoint/2010/main" val="141126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196193-4259-444F-9B08-3F87B1FECE4E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395DE0-8916-BAFF-1521-F06447C1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8</a:t>
            </a:fld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DAF133D-7FEA-9731-DEDE-25E8D155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11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 </a:t>
            </a:r>
            <a:r>
              <a:rPr lang="ru-RU" sz="4000" dirty="0"/>
              <a:t>Подходы </a:t>
            </a:r>
            <a:r>
              <a:rPr lang="en-US" sz="4000" dirty="0"/>
              <a:t>NER (2/2)</a:t>
            </a:r>
            <a:endParaRPr lang="ru-RU" sz="4000" dirty="0"/>
          </a:p>
        </p:txBody>
      </p:sp>
      <p:sp>
        <p:nvSpPr>
          <p:cNvPr id="3" name="Нижний колонтитул 5">
            <a:extLst>
              <a:ext uri="{FF2B5EF4-FFF2-40B4-BE49-F238E27FC236}">
                <a16:creationId xmlns:a16="http://schemas.microsoft.com/office/drawing/2014/main" id="{A6B6E9F8-61A6-6662-A251-E51CB647D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Обзор подходов и методов разметки текстовых документов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125FA2D-F99C-1FC8-F82A-569876C34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313462"/>
              </p:ext>
            </p:extLst>
          </p:nvPr>
        </p:nvGraphicFramePr>
        <p:xfrm>
          <a:off x="452062" y="1881211"/>
          <a:ext cx="11250202" cy="40233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36896">
                  <a:extLst>
                    <a:ext uri="{9D8B030D-6E8A-4147-A177-3AD203B41FA5}">
                      <a16:colId xmlns:a16="http://schemas.microsoft.com/office/drawing/2014/main" val="604369586"/>
                    </a:ext>
                  </a:extLst>
                </a:gridCol>
                <a:gridCol w="3332747">
                  <a:extLst>
                    <a:ext uri="{9D8B030D-6E8A-4147-A177-3AD203B41FA5}">
                      <a16:colId xmlns:a16="http://schemas.microsoft.com/office/drawing/2014/main" val="2043382255"/>
                    </a:ext>
                  </a:extLst>
                </a:gridCol>
                <a:gridCol w="4066674">
                  <a:extLst>
                    <a:ext uri="{9D8B030D-6E8A-4147-A177-3AD203B41FA5}">
                      <a16:colId xmlns:a16="http://schemas.microsoft.com/office/drawing/2014/main" val="180372709"/>
                    </a:ext>
                  </a:extLst>
                </a:gridCol>
                <a:gridCol w="2413885">
                  <a:extLst>
                    <a:ext uri="{9D8B030D-6E8A-4147-A177-3AD203B41FA5}">
                      <a16:colId xmlns:a16="http://schemas.microsoft.com/office/drawing/2014/main" val="802264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Подход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Плюсы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Минусы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Методы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069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Статисти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ческий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Скорость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Адаптивность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Устойчивость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Требует много данных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Проблемы с многозначностью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Чувствителен к качеству данных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en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TF-IDF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en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YAKE!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en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TextRank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822028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Лингвисти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ческий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Учет синтаксиса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Анализ особенностей употребления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Выделяет нерелевантные слова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Трудности со сленгом и нестандартной лексикой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Грамматический разбор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Шаблоны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Правила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988281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/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Машинное обучение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Высокое качество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Сочетает разные подходы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Требует сформированную выборку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Большие вычислительные ресурсы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en" sz="20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CNN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en" sz="20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RNN</a:t>
                      </a:r>
                      <a:endParaRPr lang="ru-RU" sz="20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 fontAlgn="base" latinLnBrk="0">
                        <a:buFont typeface="Arial" panose="020B0604020202020204" pitchFamily="34" charset="0"/>
                        <a:buChar char="•"/>
                      </a:pPr>
                      <a:r>
                        <a:rPr lang="en" sz="20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Transformers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86535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11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1E475AF-09B2-4988-85C6-6260AE43529D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C1E35D-550E-0204-46D6-F0E97C5D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9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AFE2615-604E-C54C-2A23-0E060FF9396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Выводы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241CB3-0653-EBE0-466A-BF1F9CD85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3" t="-1" r="65756" b="48233"/>
          <a:stretch>
            <a:fillRect/>
          </a:stretch>
        </p:blipFill>
        <p:spPr>
          <a:xfrm>
            <a:off x="543944" y="1580881"/>
            <a:ext cx="3425248" cy="2975821"/>
          </a:xfrm>
          <a:prstGeom prst="rect">
            <a:avLst/>
          </a:prstGeom>
        </p:spPr>
      </p:pic>
      <p:sp>
        <p:nvSpPr>
          <p:cNvPr id="9" name="Нижний колонтитул 5">
            <a:extLst>
              <a:ext uri="{FF2B5EF4-FFF2-40B4-BE49-F238E27FC236}">
                <a16:creationId xmlns:a16="http://schemas.microsoft.com/office/drawing/2014/main" id="{C1AC5BA5-162E-D698-63CA-46A6ED5C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Обзор подходов и методов разметки текстовых документов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5B337E7-C948-A01B-8261-0495A079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2" t="62485" r="75509" b="19543"/>
          <a:stretch>
            <a:fillRect/>
          </a:stretch>
        </p:blipFill>
        <p:spPr>
          <a:xfrm>
            <a:off x="3291739" y="4788123"/>
            <a:ext cx="3178598" cy="149352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4BBDBB-7707-7C42-D193-CBF4CBE9F5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38" t="-1" r="34113" b="48214"/>
          <a:stretch>
            <a:fillRect/>
          </a:stretch>
        </p:blipFill>
        <p:spPr>
          <a:xfrm>
            <a:off x="4141650" y="1576266"/>
            <a:ext cx="3322197" cy="29758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DBBBA2-EDE7-14B1-D3F4-36713C7E1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31" t="-2" r="2105" b="46812"/>
          <a:stretch>
            <a:fillRect/>
          </a:stretch>
        </p:blipFill>
        <p:spPr>
          <a:xfrm>
            <a:off x="7997959" y="1570004"/>
            <a:ext cx="3425248" cy="3118655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689E6CE9-C698-B4EF-435C-2DAEB7E5C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687" y="5120985"/>
            <a:ext cx="5379112" cy="7851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Позволяет создавать гибкие</a:t>
            </a:r>
            <a:r>
              <a:rPr lang="en-US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точные и масштабируемые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692578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BE46F-6C24-10E4-4154-D8FE2ADC3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BC3A8-33CB-4D8A-69F3-235071F7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4064" cy="1325563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Этапы разметки коллекции документов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2A30A1B-B1D8-454B-26DD-61252203EB3D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6AC639-B0EF-F0F0-CE97-78D508A6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10</a:t>
            </a:fld>
            <a:endParaRPr lang="ru-RU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8E16D76B-5973-4AE7-72C8-85C4C9AA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2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Анализ ПО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«Разметка текстовых документов»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9E9305-D67A-0D43-E54F-165E7A38F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62" y="2717125"/>
            <a:ext cx="11250202" cy="1666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522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8B504-F50F-42E8-2BDB-CA53A0C7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Группы пользователей и их 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66897-D19A-CF84-57AA-2612E43C2AA9}"/>
              </a:ext>
            </a:extLst>
          </p:cNvPr>
          <p:cNvSpPr txBox="1"/>
          <p:nvPr/>
        </p:nvSpPr>
        <p:spPr>
          <a:xfrm>
            <a:off x="452062" y="1776443"/>
            <a:ext cx="11183677" cy="4332661"/>
          </a:xfrm>
          <a:prstGeom prst="rect">
            <a:avLst/>
          </a:prstGeom>
          <a:noFill/>
        </p:spPr>
        <p:txBody>
          <a:bodyPr wrap="square" lIns="91440" tIns="45720" rIns="91440" bIns="45720" numCol="1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Задачи специалистов: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indent="4445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Выделение именованных сущностей из текстовых документов.</a:t>
            </a:r>
          </a:p>
          <a:p>
            <a:pPr indent="4445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Формирование словарей – создание/редактирование и объединение словарей на основе именованных сущностей.</a:t>
            </a:r>
          </a:p>
          <a:p>
            <a:pPr indent="4445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Просмотр списка словарей.</a:t>
            </a:r>
          </a:p>
          <a:p>
            <a:pPr indent="4445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Поиск по терминам.</a:t>
            </a:r>
          </a:p>
          <a:p>
            <a:pPr indent="4445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Поиск пересечений терминов.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97903A4-C59D-5FAB-D9B2-9ADA6B6C585A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072552-70E2-AB00-5652-F595110D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11</a:t>
            </a:fld>
            <a:endParaRPr lang="ru-RU"/>
          </a:p>
        </p:txBody>
      </p:sp>
      <p:sp>
        <p:nvSpPr>
          <p:cNvPr id="8" name="Нижний колонтитул 5">
            <a:extLst>
              <a:ext uri="{FF2B5EF4-FFF2-40B4-BE49-F238E27FC236}">
                <a16:creationId xmlns:a16="http://schemas.microsoft.com/office/drawing/2014/main" id="{9CB934D5-45B4-6930-18B7-CBA92937C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2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Анализ ПО «Разметка текстовых документов»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8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A4F34-BB22-E65B-8BEA-80B80CDD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AEC59-794A-F47F-83A5-FE903A03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4064" cy="1325563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Типы словосочетаний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4955A54-E9C7-13C9-D278-6AC6F250352A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26558D-B38D-EBAB-FD7D-4C7516E2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12</a:t>
            </a:fld>
            <a:endParaRPr lang="ru-RU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46CF543F-3FBC-B873-366B-8030E60B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2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Анализ ПО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«Разметка текстовых документов»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82" name="Picture 34">
            <a:extLst>
              <a:ext uri="{FF2B5EF4-FFF2-40B4-BE49-F238E27FC236}">
                <a16:creationId xmlns:a16="http://schemas.microsoft.com/office/drawing/2014/main" id="{0AFB90A4-01FA-ACDC-D5B5-F96F6D417C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3" t="23960" r="18846" b="18996"/>
          <a:stretch>
            <a:fillRect/>
          </a:stretch>
        </p:blipFill>
        <p:spPr bwMode="auto">
          <a:xfrm>
            <a:off x="838200" y="2732774"/>
            <a:ext cx="1792706" cy="828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4" name="Picture 36">
            <a:extLst>
              <a:ext uri="{FF2B5EF4-FFF2-40B4-BE49-F238E27FC236}">
                <a16:creationId xmlns:a16="http://schemas.microsoft.com/office/drawing/2014/main" id="{FF9ECABF-EDF3-B30F-C9B9-B51536D9B8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7" t="5970" r="16223" b="16262"/>
          <a:stretch>
            <a:fillRect/>
          </a:stretch>
        </p:blipFill>
        <p:spPr bwMode="auto">
          <a:xfrm>
            <a:off x="3170075" y="2206003"/>
            <a:ext cx="1947795" cy="141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6" name="Picture 38">
            <a:extLst>
              <a:ext uri="{FF2B5EF4-FFF2-40B4-BE49-F238E27FC236}">
                <a16:creationId xmlns:a16="http://schemas.microsoft.com/office/drawing/2014/main" id="{94259938-0B39-DD2A-753B-13FDF564D2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1" r="9570" b="8110"/>
          <a:stretch>
            <a:fillRect/>
          </a:stretch>
        </p:blipFill>
        <p:spPr bwMode="auto">
          <a:xfrm>
            <a:off x="5657039" y="1918559"/>
            <a:ext cx="3068052" cy="179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>
            <a:extLst>
              <a:ext uri="{FF2B5EF4-FFF2-40B4-BE49-F238E27FC236}">
                <a16:creationId xmlns:a16="http://schemas.microsoft.com/office/drawing/2014/main" id="{6D46ED06-6088-0701-8998-9CF861092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803" y="1965723"/>
            <a:ext cx="2352848" cy="179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0" name="Picture 42">
            <a:extLst>
              <a:ext uri="{FF2B5EF4-FFF2-40B4-BE49-F238E27FC236}">
                <a16:creationId xmlns:a16="http://schemas.microsoft.com/office/drawing/2014/main" id="{458862AD-0EF3-4DF9-0C22-CBE2522F2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6" t="3070" r="10238" b="8745"/>
          <a:stretch>
            <a:fillRect/>
          </a:stretch>
        </p:blipFill>
        <p:spPr bwMode="auto">
          <a:xfrm>
            <a:off x="563207" y="4414508"/>
            <a:ext cx="3112168" cy="180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2" name="Picture 44">
            <a:extLst>
              <a:ext uri="{FF2B5EF4-FFF2-40B4-BE49-F238E27FC236}">
                <a16:creationId xmlns:a16="http://schemas.microsoft.com/office/drawing/2014/main" id="{3B4206B8-980D-E0B7-AD8B-3B30FF887A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2" t="4147" r="8799" b="16430"/>
          <a:stretch>
            <a:fillRect/>
          </a:stretch>
        </p:blipFill>
        <p:spPr bwMode="auto">
          <a:xfrm>
            <a:off x="4398757" y="4535365"/>
            <a:ext cx="3356811" cy="156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4" name="Picture 46">
            <a:extLst>
              <a:ext uri="{FF2B5EF4-FFF2-40B4-BE49-F238E27FC236}">
                <a16:creationId xmlns:a16="http://schemas.microsoft.com/office/drawing/2014/main" id="{A0763CA5-E9AF-8B6F-81DE-7AFD7B5C9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5" t="7745" r="5928" b="11286"/>
          <a:stretch>
            <a:fillRect/>
          </a:stretch>
        </p:blipFill>
        <p:spPr bwMode="auto">
          <a:xfrm>
            <a:off x="8288780" y="4463176"/>
            <a:ext cx="3753853" cy="163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CBF7E3-266C-669D-945F-5EC3DA687DA1}"/>
              </a:ext>
            </a:extLst>
          </p:cNvPr>
          <p:cNvSpPr txBox="1"/>
          <p:nvPr/>
        </p:nvSpPr>
        <p:spPr>
          <a:xfrm>
            <a:off x="1315953" y="1740519"/>
            <a:ext cx="964504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Сущ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911C-E3C6-25A7-DE90-E9C69926F30A}"/>
              </a:ext>
            </a:extLst>
          </p:cNvPr>
          <p:cNvSpPr txBox="1"/>
          <p:nvPr/>
        </p:nvSpPr>
        <p:spPr>
          <a:xfrm>
            <a:off x="3403440" y="1758346"/>
            <a:ext cx="139990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Прил+Сущ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26C5F-394F-A21B-242F-9AF63E8DB219}"/>
              </a:ext>
            </a:extLst>
          </p:cNvPr>
          <p:cNvSpPr txBox="1"/>
          <p:nvPr/>
        </p:nvSpPr>
        <p:spPr>
          <a:xfrm>
            <a:off x="5926330" y="1732188"/>
            <a:ext cx="222707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Прил+Прил+Сущ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2C60C-6E2C-EA13-93A8-5E6F2DD5892C}"/>
              </a:ext>
            </a:extLst>
          </p:cNvPr>
          <p:cNvSpPr txBox="1"/>
          <p:nvPr/>
        </p:nvSpPr>
        <p:spPr>
          <a:xfrm>
            <a:off x="9683454" y="1733893"/>
            <a:ext cx="1670345" cy="3759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Сущ+Сущ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C18485-58F5-5F8D-AD32-8D77BD3C9CE4}"/>
              </a:ext>
            </a:extLst>
          </p:cNvPr>
          <p:cNvSpPr txBox="1"/>
          <p:nvPr/>
        </p:nvSpPr>
        <p:spPr>
          <a:xfrm>
            <a:off x="1468708" y="4056229"/>
            <a:ext cx="2038579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Сущ+Сущ+Сущ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B9CFC-390D-09FE-61A3-B7DB6A5ABEA2}"/>
              </a:ext>
            </a:extLst>
          </p:cNvPr>
          <p:cNvSpPr txBox="1"/>
          <p:nvPr/>
        </p:nvSpPr>
        <p:spPr>
          <a:xfrm>
            <a:off x="5356915" y="4045176"/>
            <a:ext cx="2038579" cy="3803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Сущ+Прил+Сущ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0CB4F-EEC1-3B81-5B7E-884378AAA1EC}"/>
              </a:ext>
            </a:extLst>
          </p:cNvPr>
          <p:cNvSpPr txBox="1"/>
          <p:nvPr/>
        </p:nvSpPr>
        <p:spPr>
          <a:xfrm>
            <a:off x="9146416" y="4045176"/>
            <a:ext cx="2038579" cy="3803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Прил+Сущ+Сущ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219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56C63-B30E-CBF5-9508-29D85706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E17E6-FA06-9405-B671-E18484420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4064" cy="1325563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Сравнение подходов определения типа словосочетания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872F60-01B8-AA8D-7880-D78EA93C344B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8E390D-7841-1A1E-ED88-5C58E60C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13</a:t>
            </a:fld>
            <a:endParaRPr lang="ru-RU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66D3D544-D726-5657-66D1-8598597D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2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Анализ ПО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«Разметка текстовых документов»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304DE005-8A84-9EB8-27A8-E2ABA581E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061" y="1758702"/>
            <a:ext cx="6144634" cy="49389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Адъективно-генитивный</a:t>
            </a: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тип словосочетания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8B033F5B-9C40-3AD8-8EE7-7C56B92B984F}"/>
              </a:ext>
            </a:extLst>
          </p:cNvPr>
          <p:cNvSpPr txBox="1">
            <a:spLocks/>
          </p:cNvSpPr>
          <p:nvPr/>
        </p:nvSpPr>
        <p:spPr>
          <a:xfrm>
            <a:off x="2211149" y="2421736"/>
            <a:ext cx="5684318" cy="4938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Подход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ru-RU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учитывающий только части речи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AA5A4C1D-4C23-883F-8CC5-BA05CF570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32" y="4964246"/>
            <a:ext cx="3774082" cy="162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355A7D26-ED7F-A43B-9C7F-25EFC712AA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2"/>
          <a:stretch>
            <a:fillRect/>
          </a:stretch>
        </p:blipFill>
        <p:spPr bwMode="auto">
          <a:xfrm>
            <a:off x="5053308" y="2700569"/>
            <a:ext cx="4380998" cy="173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3C538CC5-799A-2C4B-111C-CB2D3EAE5E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6"/>
          <a:stretch>
            <a:fillRect/>
          </a:stretch>
        </p:blipFill>
        <p:spPr bwMode="auto">
          <a:xfrm>
            <a:off x="4231572" y="4969298"/>
            <a:ext cx="6024470" cy="158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4572CD1-21FF-CF51-D603-695034F9E7A9}"/>
              </a:ext>
            </a:extLst>
          </p:cNvPr>
          <p:cNvSpPr txBox="1">
            <a:spLocks/>
          </p:cNvSpPr>
          <p:nvPr/>
        </p:nvSpPr>
        <p:spPr>
          <a:xfrm>
            <a:off x="2018739" y="4518406"/>
            <a:ext cx="5857455" cy="4938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Подход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ru-RU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учитывающий части речи и падежи</a:t>
            </a:r>
          </a:p>
        </p:txBody>
      </p:sp>
      <p:pic>
        <p:nvPicPr>
          <p:cNvPr id="9" name="Рисунок 8" descr="Изображение выглядит как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EC437D-C198-D379-13C7-987DE50887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415" y="4571094"/>
            <a:ext cx="1668236" cy="1668236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имвол, звезд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17A73B-DA8C-FF95-8A63-BAAD95F9D1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236" y="2500702"/>
            <a:ext cx="1856595" cy="185659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6243C42-462B-D7F4-CF5A-A38F7EE62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17" y="3164856"/>
            <a:ext cx="3744264" cy="119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5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4F5F6-248F-6CF8-89DE-1A34D890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E642F-EF6F-3AC7-2790-4E9E682F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4064" cy="1325563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Извлечение именованных сущностей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A0FE5D5-E929-B394-F2DE-ED96ED302454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F48E6A-293C-78D0-A4DC-A5FFBB36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14</a:t>
            </a:fld>
            <a:endParaRPr lang="ru-RU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38B14791-A8AC-D023-11AB-A82FC46C7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2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Анализ ПО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«Разметка текстовых документов»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CE4634D-106C-5448-2C94-DB5EA02A8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062" y="1767159"/>
            <a:ext cx="11250202" cy="4725714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Разбиение текстового документа на блоки меньшей длины чем исходный документ.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Определение кандидатов в именованные сущности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58900" lvl="1" indent="-457200" algn="just">
              <a:buFont typeface="+mj-lt"/>
              <a:buAutoNum type="alphaLcPeriod"/>
            </a:pP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Токенизация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текста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58900" lvl="1" indent="-457200" algn="just">
              <a:buFont typeface="+mj-lt"/>
              <a:buAutoNum type="alphaLcPeriod"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Генерация n-грамм для токенов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58900" lvl="1" indent="-457200" algn="just">
              <a:buFont typeface="+mj-lt"/>
              <a:buAutoNum type="alphaLcPeriod"/>
            </a:pPr>
            <a:r>
              <a:rPr lang="ru-RU" sz="2000" b="1" dirty="0">
                <a:latin typeface="Calibri" panose="020F0502020204030204" pitchFamily="34" charset="0"/>
                <a:cs typeface="Calibri" panose="020F0502020204030204" pitchFamily="34" charset="0"/>
              </a:rPr>
              <a:t>Определение типа словосочетания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для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n-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грамм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58900" lvl="1" indent="-457200" algn="just">
              <a:buFont typeface="+mj-lt"/>
              <a:buAutoNum type="alphaLcPeriod"/>
            </a:pPr>
            <a:r>
              <a:rPr lang="ru-RU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Лемматизация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Расчёт TF-IDF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Ранжирование и отсечение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86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94FC-1833-53F0-925D-BF1E0A5D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7BBDE-68B9-71FD-DF80-90117F70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36" y="365125"/>
            <a:ext cx="11212528" cy="1325563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Модель предметной области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D8229D5-A660-3557-6B5F-A04CF33F4AD5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34457A-7EDF-6E4C-199E-B4B8025F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15</a:t>
            </a:fld>
            <a:endParaRPr lang="ru-RU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CC881CEA-767D-2AC8-CA47-275FDC59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2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Анализ ПО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«Разметка текстовых документов»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F6B027-65F6-4500-6E14-08B35CF3009B}"/>
                  </a:ext>
                </a:extLst>
              </p:cNvPr>
              <p:cNvSpPr txBox="1"/>
              <p:nvPr/>
            </p:nvSpPr>
            <p:spPr>
              <a:xfrm>
                <a:off x="452062" y="1611026"/>
                <a:ext cx="11183677" cy="490608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numCol="1" anchor="t">
                <a:spAutoFit/>
              </a:bodyPr>
              <a:lstStyle/>
              <a:p>
                <a:pPr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𝑻𝒆𝒙𝒕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=&lt;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𝐵𝑎𝑡𝑐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h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𝑒𝑠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𝑇𝑜𝑘𝑒𝑛𝑠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текстовый документ.</a:t>
                </a:r>
                <a:endParaRPr lang="ru-RU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𝑩</m:t>
                    </m:r>
                    <m:r>
                      <a:rPr lang="en-US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𝒂𝒕𝒄</m:t>
                    </m:r>
                    <m:r>
                      <a:rPr lang="ru-RU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𝒉</m:t>
                    </m:r>
                    <m:r>
                      <a:rPr lang="en-US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𝒆𝒔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𝑏𝑎𝑡𝑐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множество блоков текста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𝑇𝑒𝑥𝑡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∈[1,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𝑚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m 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– количество блоков.</a:t>
                </a:r>
                <a:endParaRPr lang="ru-RU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𝒃𝒂𝒕𝒄</m:t>
                        </m:r>
                        <m:r>
                          <a:rPr lang="ru-RU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=[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…,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𝑇𝑜𝑘𝑒𝑛𝑠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∈[1,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не может стоять раньше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endParaRPr lang="ru-RU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𝑻𝒐𝒌𝒆𝒏𝒔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𝑡𝑜𝑘𝑒𝑛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множество токенов в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𝑇𝑒𝑥𝑡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∈[1,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n 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– количество различных токенов в тексте.</a:t>
                </a:r>
                <a:endParaRPr lang="ru-RU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𝒕𝒐𝒌𝒆𝒏</m:t>
                        </m:r>
                      </m:e>
                      <m:sub>
                        <m:r>
                          <a:rPr lang="en-US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𝑣𝑎𝑙𝑢𝑒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𝑃𝑂𝑆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𝑎𝑠𝑒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кортеж из слова, его части речи и падежа.</a:t>
                </a:r>
                <a:endParaRPr lang="en-US" b="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𝑵𝑬𝑹𝑷</m:t>
                    </m:r>
                    <m:r>
                      <a:rPr lang="ru-RU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𝒉</m:t>
                    </m:r>
                    <m:r>
                      <a:rPr lang="en-US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𝒓𝒂𝒔𝒆</m:t>
                    </m:r>
                    <m:r>
                      <a:rPr lang="ru-RU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&lt;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𝑇𝐹𝐼𝐷𝐹𝐶𝑎𝑛𝑑𝑖𝑑𝑎𝑡𝑒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𝑇𝐹𝐼𝐷𝐹</m:t>
                    </m:r>
                    <m:r>
                      <a:rPr lang="ru-R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ru-RU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–</a:t>
                </a:r>
                <a:r>
                  <a:rPr lang="ru-RU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именованная сущность.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ru-RU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𝒓𝒂𝒔𝒆𝑻𝒚𝒑𝒆𝒔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=&lt;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поддерживаемые типы словосочетаний.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𝑷𝒂𝒕𝒕𝒆𝒓𝒏</m:t>
                    </m:r>
                    <m:d>
                      <m:d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𝒓𝒂𝒔𝒆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𝑡𝑦𝑝𝑒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𝑡𝑦𝑝𝑒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последовательность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𝑡𝑦𝑝𝑒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для словосочетания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ru-RU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𝑻𝑭𝑰𝑫𝑭𝑪𝒂𝒏𝒅𝒊𝒅𝒂𝒕𝒆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𝑟𝑎𝑠𝑒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′ | ∃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∈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𝑃h𝑟𝑎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𝑠𝑒𝑇𝑦𝑝𝑒𝑠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𝑃𝑎𝑡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𝑡𝑒𝑟𝑛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𝑃h𝑟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𝑎𝑠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h𝑟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𝑎𝑠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𝑇𝑜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𝑁𝑜𝑟𝑚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𝑃h𝑟𝑎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𝑠𝑒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𝑫𝒊𝒄𝒕𝒊𝒐𝒏𝒂𝒓𝒚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=&lt;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𝑛𝑎𝑚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𝑇𝑒𝑥𝑡𝑠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𝑡𝑓𝑖𝑑𝑓𝑅𝑎𝑛𝑔𝑒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𝑁𝑒𝑟𝑃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𝑟𝑎𝑠𝑒𝑠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NotionWithConns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где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𝒏𝒂𝒎𝒆</m:t>
                    </m:r>
                    <m:r>
                      <m:rPr>
                        <m:nor/>
                      </m:rPr>
                      <a:rPr lang="ru-RU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– название словаря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𝑻𝒆𝒙𝒕𝒔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𝑒𝑥𝑡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nor/>
                      </m:rPr>
                      <a:rPr lang="en-US" b="0" i="0" smtClean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𝒕𝒇𝒊𝒅𝒇𝑹𝒂𝒏𝒈𝒆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пороговое значение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TFIDF,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𝒆𝒓𝑷</m:t>
                    </m:r>
                    <m:r>
                      <a:rPr lang="ru-RU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𝒓𝒂𝒔𝒆𝒔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𝑁𝐸𝑅𝑃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𝑟𝑎𝑠𝑒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 множество именованных сущностей, извлечённых из текстового документа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𝑵𝒐𝒕𝒊𝒐𝒏𝑾𝒊𝒕𝒉𝑪𝒐𝒏𝒏𝒔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NotionWithConn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},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𝑁𝑜𝑡𝑖𝑜𝑛𝑊𝑖𝑡h𝐶𝑜𝑛𝑛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𝑁𝑜𝑡𝑖𝑜𝑛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"/>
                            <m:endChr m:val="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𝐶𝑜𝑙𝑆𝑦𝑛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𝑁𝑜𝑡𝑖𝑜𝑛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𝐶𝑜𝑙𝑉𝑎𝑙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𝑁𝑜𝑡𝑖𝑜𝑛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ru-RU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</m:d>
                  </m:oMath>
                </a14:m>
                <a:endParaRPr lang="en-US" dirty="0">
                  <a:effectLst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𝑜𝑡𝑖𝑜𝑛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NERPhrase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𝑜𝑙𝑆𝑦𝑛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𝑜𝑙𝑉𝑎𝑙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𝑵𝒐𝒕𝒊𝒐𝒏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термин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1" i="1"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𝒐𝒍𝑺𝒚𝒏</m:t>
                    </m:r>
                  </m:oMath>
                </a14:m>
                <a:r>
                  <a:rPr lang="ru-RU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– синоним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𝒐𝒍𝑽𝒂𝒍</m:t>
                    </m:r>
                  </m:oMath>
                </a14:m>
                <a:r>
                  <a:rPr lang="ru-RU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– значение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endParaRPr lang="ru-RU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F6B027-65F6-4500-6E14-08B35CF30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62" y="1611026"/>
                <a:ext cx="11183677" cy="4906087"/>
              </a:xfrm>
              <a:prstGeom prst="rect">
                <a:avLst/>
              </a:prstGeom>
              <a:blipFill>
                <a:blip r:embed="rId3"/>
                <a:stretch>
                  <a:fillRect l="-454" b="-10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667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BA88-9DFD-C20D-0D46-310B2216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B64A0-1EEF-C0F9-C7EA-D57924AA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4064" cy="1325563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Метод выделения именованных сущностей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2A08F5E-56B2-415B-BAD7-3A930D23252C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B0FE65-8CC6-5D39-EB2B-F399CF68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16</a:t>
            </a:fld>
            <a:endParaRPr lang="ru-RU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A528D0FF-8D00-97FB-3DF9-55DE7DD4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2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Анализ ПО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«Разметка текстовых документов»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D76326-2C90-4FD4-1E4D-C09EE246FB3B}"/>
                  </a:ext>
                </a:extLst>
              </p:cNvPr>
              <p:cNvSpPr txBox="1"/>
              <p:nvPr/>
            </p:nvSpPr>
            <p:spPr>
              <a:xfrm>
                <a:off x="452062" y="1541595"/>
                <a:ext cx="11183677" cy="46769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numCol="1" anchor="t">
                <a:spAutoFit/>
              </a:bodyPr>
              <a:lstStyle/>
              <a:p>
                <a:r>
                  <a:rPr lang="ru-RU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Вход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𝑇𝑒𝑥𝑡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𝐵𝑎𝑡𝑐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𝑇𝑜𝑘𝑒𝑛𝑠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u-RU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Выход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𝑁𝐸𝑅𝑃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𝑟𝑎𝑠𝑒𝑠</m:t>
                    </m:r>
                  </m:oMath>
                </a14:m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u-RU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Описание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ru-RU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Шаг 1.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Извлечение из текстового документа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Text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блоков текста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𝑏𝑎𝑡𝑐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ru-RU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Шаг 2.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Для каждого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𝑏𝑎𝑡𝑐h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2.1. </a:t>
                </a:r>
                <a:r>
                  <a:rPr lang="ru-RU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Токенизация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извлечение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𝑜𝑘𝑒𝑛𝑠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𝑏𝑎𝑡𝑐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2.2.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Формирование из токенов словосочетаний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𝑃h𝑟𝑎𝑠𝑒𝑠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𝑜𝑘𝑒𝑛𝑠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𝑏𝑎𝑡𝑐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1,3</m:t>
                            </m:r>
                          </m:e>
                        </m:ba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𝑃h𝑟𝑎𝑠𝑒𝑠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𝑃h𝑟𝑎𝑠𝑒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2.3.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Получение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𝑇𝐹𝐼𝐷𝐹𝐶𝑎𝑛𝑑𝑖𝑑𝑎𝑡𝑒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для каждого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𝑃h𝑟𝑎𝑠𝑒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2.3.1. </a:t>
                </a:r>
                <a:r>
                  <a:rPr lang="ru-RU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Проверка типа словосочетания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𝑡𝑡𝑒𝑟𝑛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𝑃h𝑟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𝑎𝑠𝑒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2.3.2. </a:t>
                </a:r>
                <a:r>
                  <a:rPr lang="ru-RU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Лемматизация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𝑜𝑁𝑜𝑟𝑚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𝑃h𝑟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𝑎𝑠𝑒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𝑇𝐹𝐼𝐷𝐹𝐶𝑎𝑛𝑑𝑖𝑑𝑎𝑡𝑒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2.4.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Выделение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𝑁𝐸𝑅𝑃h𝑟𝑎𝑠𝑒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𝑇𝐹𝐼𝐷𝐹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𝑇𝐹𝐼𝐷𝐹𝐶𝑎𝑛𝑑𝑖𝑑𝑎𝑡𝑒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𝑇𝑒𝑥𝑡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𝑏𝑎𝑡𝑐h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𝑁𝐸𝑅𝑃h𝑟𝑎𝑠𝑒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𝑇𝐹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и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𝐼𝐷𝐹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определены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∅,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иначе</m:t>
                            </m:r>
                          </m:e>
                        </m:eqArr>
                      </m:e>
                    </m:d>
                  </m:oMath>
                </a14:m>
                <a:b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ru-RU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Шаг 3.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Ранжирование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𝑁𝐸𝑅𝑃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𝑟𝑎𝑠𝑒𝑠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𝑁𝐸𝑅𝑃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𝑟𝑎𝑠𝑒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по убыванию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𝑇𝐹𝐼𝐷𝐹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𝑁𝐸𝑅𝑃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𝑟𝑎𝑠𝑒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∪∅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ru-RU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Шаг 4.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Отбор первых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именованных сущностей, где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n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 настраиваемый параметр больше нуля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D76326-2C90-4FD4-1E4D-C09EE246F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62" y="1541595"/>
                <a:ext cx="11183677" cy="4676921"/>
              </a:xfrm>
              <a:prstGeom prst="rect">
                <a:avLst/>
              </a:prstGeom>
              <a:blipFill>
                <a:blip r:embed="rId3"/>
                <a:stretch>
                  <a:fillRect l="-5556" t="-542" b="-303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100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458A-0A12-33DE-C165-3E6C2C6E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EEC8-093A-FD36-D2D7-0E29C63C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4064" cy="1325563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Метод поиска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по одному словосочетанию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F31C18B-8D4F-288D-11A7-2984ACB135EE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E92C42-4A91-D349-8E27-2B5C0B06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17</a:t>
            </a:fld>
            <a:endParaRPr lang="ru-RU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BEECE9D1-1F3F-C416-D8D3-A8320D58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2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Анализ ПО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«Разметка текстовых документов»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079355-ABD5-189B-CEA7-DC2193A707CE}"/>
                  </a:ext>
                </a:extLst>
              </p:cNvPr>
              <p:cNvSpPr txBox="1"/>
              <p:nvPr/>
            </p:nvSpPr>
            <p:spPr>
              <a:xfrm>
                <a:off x="452062" y="1632795"/>
                <a:ext cx="11183677" cy="47575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numCol="1" anchor="t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ru-RU" sz="1400" u="sng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Вход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:</a:t>
                </a:r>
                <a:r>
                  <a:rPr lang="ru-RU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𝑫𝒊𝒄𝒕𝒊𝒐𝒏𝒂𝒓𝒚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ru-RU" sz="1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ru-RU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где 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ru-RU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кол-во всех созданных словарей; </a:t>
                </a: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𝒒𝒖𝒆𝒓𝒚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 словосочетание для поиска.</a:t>
                </a: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400" u="sng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Выход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ru-RU" sz="140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𝑁𝑜𝑡𝑖𝑜𝑛𝑊𝑖𝑡h𝐶𝑜𝑛𝑛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𝐵𝑎𝑡𝑐h𝑒𝑠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𝑁𝑜𝑡𝑖𝑜𝑛𝑊𝑖𝑡h𝐶𝑜𝑛𝑛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&gt;</m:t>
                        </m:r>
                      </m:e>
                    </m:d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𝑁𝑜𝑡𝑖𝑜𝑛𝑊𝑖𝑡h𝐶𝑜𝑛𝑛</m:t>
                        </m:r>
                      </m:e>
                      <m:sub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найденные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термины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и их синонимы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/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значения,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𝐵𝑎𝑡𝑐h𝑒𝑠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𝑁𝑜𝑡𝑖𝑜𝑛𝑊𝑖𝑡h𝐶𝑜𝑛𝑛</m:t>
                            </m:r>
                          </m:e>
                          <m:sub>
                            <m:r>
                              <a:rPr lang="en-US" sz="14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1400" b="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{</m:t>
                    </m:r>
                    <m:sSubSup>
                      <m:sSubSup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𝑏𝑎𝑡𝑐h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𝑁𝑜𝑡𝑖𝑜𝑛𝑊𝑖𝑡h𝐶𝑜𝑛𝑛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</m:sSubSup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–</a:t>
                </a:r>
                <a:r>
                  <a:rPr lang="en-US" sz="1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множество текстовых блоков, 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в которых встречаются термины и их синонимы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/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значения.</a:t>
                </a:r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400" u="sng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Описание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:</a:t>
                </a:r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400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Шаг 1. 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Отбор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𝐷</m:t>
                            </m:r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𝑖𝑐𝑡𝑖𝑜𝑛𝑎𝑟𝑦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ru-RU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𝑙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ba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−количе</m:t>
                    </m:r>
                    <m:r>
                      <a:rPr lang="ru-RU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ство всех словарей</m:t>
                    </m:r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Если словарей 0, то вернуть </a:t>
                </a:r>
                <a14:m>
                  <m:oMath xmlns:m="http://schemas.openxmlformats.org/officeDocument/2006/math">
                    <m:r>
                      <a:rPr lang="ru-RU" sz="14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∅</m:t>
                    </m:r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иначе – шаг 2.</a:t>
                </a:r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400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Шаг 2.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Для каждого словаря осуществляется поиск терминов, их синонимов и значений, похожих на </a:t>
                </a:r>
                <a14:m>
                  <m:oMath xmlns:m="http://schemas.openxmlformats.org/officeDocument/2006/math"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𝑞</m:t>
                    </m:r>
                    <m:r>
                      <a:rPr lang="en-US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𝑢𝑒𝑟𝑦</m:t>
                    </m:r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r>
                  <a:rPr lang="ru-RU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 </a:t>
                </a:r>
              </a:p>
              <a:p>
                <a:pPr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𝑆𝑖𝑚</m:t>
                    </m:r>
                    <m:d>
                      <m:d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𝑁𝑆𝑉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𝑖𝑐𝑡𝑖𝑜𝑛𝑎𝑟𝑦</m:t>
                                </m:r>
                              </m:e>
                              <m:sub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𝑞𝑢𝑒𝑟𝑦</m:t>
                        </m:r>
                        <m:r>
                          <a:rPr lang="en-US" sz="1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ru-RU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ru-RU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𝑁𝑆𝑉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ru-RU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𝐷</m:t>
                                        </m:r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𝑖𝑐𝑡𝑖𝑜𝑛𝑎𝑟𝑦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ru-RU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𝑞𝑢𝑒𝑟𝑦</m:t>
                                </m:r>
                                <m:r>
                                  <a:rPr lang="en-US" sz="14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| 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𝑁𝑆𝑉</m:t>
                    </m:r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𝑁𝑜𝑡𝑖𝑜𝑛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𝐶𝑜𝑙𝑆𝑦𝑛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𝐶𝑜𝑙𝑉𝑎𝑙</m:t>
                    </m:r>
                  </m:oMath>
                </a14:m>
                <a:r>
                  <a:rPr lang="en-US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𝑆𝑖𝑚</m:t>
                    </m:r>
                    <m:d>
                      <m:dPr>
                        <m:ctrlPr>
                          <a:rPr lang="ru-RU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𝑁𝑆𝑉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𝑖𝑐𝑡𝑖𝑜𝑛𝑎𝑟𝑦</m:t>
                                </m:r>
                              </m:e>
                              <m:sub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𝑞𝑢𝑒𝑟𝑦</m:t>
                        </m:r>
                        <m: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&gt; 0</a:t>
                </a:r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400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Шаг 3. 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Ранжирование и отсев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b="0" i="1" dirty="0" smtClean="0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dirty="0" smtClean="0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𝑁𝑆𝑉</m:t>
                            </m:r>
                          </m:e>
                          <m:sub>
                            <m:r>
                              <a:rPr lang="en-US" sz="1400" b="0" i="1" dirty="0" smtClean="0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𝑚</m:t>
                            </m:r>
                            <m:r>
                              <a:rPr lang="en-US" sz="1400" b="0" i="1" dirty="0" smtClean="0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lang="en-US" sz="1400" b="0" i="1" dirty="0" smtClean="0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</a:t>
                </a:r>
                <a:r>
                  <a:rPr lang="ru-RU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h</m:t>
                    </m:r>
                  </m:oMath>
                </a14:m>
                <a:r>
                  <a:rPr lang="en-US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настраиваемый параметр</a:t>
                </a:r>
                <a:r>
                  <a:rPr lang="en-US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400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Шаг 4. 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Для каждого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NSV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ищутся блоки текста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atch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SV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q</m:t>
                            </m:r>
                          </m:sub>
                        </m:sSub>
                      </m:sub>
                      <m:sup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k</m:t>
                        </m:r>
                      </m:sup>
                    </m:sSubSup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в который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NSV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встречается через косинусное сходство.</a:t>
                </a:r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Sim</m:t>
                      </m:r>
                      <m:d>
                        <m:d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NSV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r>
                            <a:rPr lang="en-US" sz="1400" i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batch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NSV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q</m:t>
                                  </m:r>
                                </m:sub>
                              </m:sSub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k</m:t>
                              </m:r>
                            </m:sup>
                          </m:sSubSup>
                        </m:e>
                      </m:d>
                      <m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cos</m:t>
                      </m:r>
                      <m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V</m:t>
                      </m:r>
                      <m:d>
                        <m:d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NSV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</m:e>
                      </m:d>
                      <m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V</m:t>
                      </m:r>
                      <m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batch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NSV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q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k</m:t>
                          </m:r>
                        </m:sup>
                      </m:sSubSup>
                      <m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400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Шаг 5. 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Ранжирование и отсев блоков текстов</a:t>
                </a:r>
                <a:r>
                  <a:rPr lang="en-US" sz="1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batch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NSV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q</m:t>
                                </m:r>
                              </m:sub>
                            </m:sSub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k</m:t>
                            </m:r>
                            <m:r>
                              <a:rPr lang="en-US" sz="1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b</m:t>
                            </m:r>
                          </m:sup>
                        </m:sSubSup>
                      </m:e>
                    </m:d>
                    <m:r>
                      <a:rPr lang="en-US" sz="1400" b="0" i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1400" b="0" i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b</m:t>
                    </m:r>
                    <m:r>
                      <a:rPr lang="en-US" sz="1400" b="0" i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1400" b="0" i="1" dirty="0" smtClean="0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en-US" sz="1400" b="0" i="0" dirty="0" smtClean="0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1,5</m:t>
                        </m:r>
                      </m:e>
                    </m:bar>
                  </m:oMath>
                </a14:m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ru-RU" sz="1400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Шаг 6. 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Сопоставление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>
                            <a:latin typeface="Cambria Math" panose="02040503050406030204" pitchFamily="18" charset="0"/>
                          </a:rPr>
                          <m:t>NotionWithConn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с блоками текстов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: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ru-RU" sz="1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𝑁𝑜𝑡𝑖𝑜𝑛𝑊𝑖𝑡h𝐶𝑜𝑛𝑛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𝐵𝑎𝑡𝑐h𝑒𝑠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𝑁𝑜𝑡𝑖𝑜𝑛𝑊𝑖𝑡h𝐶𝑜𝑛𝑛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&gt;</m:t>
                        </m:r>
                      </m:e>
                    </m:d>
                  </m:oMath>
                </a14:m>
                <a:endParaRPr lang="ru-RU" sz="1400" dirty="0">
                  <a:effectLst/>
                  <a:highlight>
                    <a:srgbClr val="FFFF00"/>
                  </a:highlight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079355-ABD5-189B-CEA7-DC2193A70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62" y="1632795"/>
                <a:ext cx="11183677" cy="4757521"/>
              </a:xfrm>
              <a:prstGeom prst="rect">
                <a:avLst/>
              </a:prstGeom>
              <a:blipFill>
                <a:blip r:embed="rId3"/>
                <a:stretch>
                  <a:fillRect l="-113" r="-113" b="-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196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99C1-56FB-5EAD-BE40-C14ACFC3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CAD825A0-32CC-2B13-7BAC-6182304D49AE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675F6F4-D624-421B-83B0-D9D62829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18</a:t>
            </a:fld>
            <a:endParaRPr lang="ru-RU"/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59163605-7CDE-4BB6-0331-2CE7C800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3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Проектирование и реализация прототипа системы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061A2110-5F79-3E94-4BB9-F22D25AB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Архитектурно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контекстная диаграмма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F0FA7188-78A9-8794-261E-FC629E4F7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28" y="1774909"/>
            <a:ext cx="11779543" cy="422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032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4795-9838-4D45-F84D-9B1511A3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AD2D9C6-60D7-41FB-42B8-FB205BCEAC03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F9D20B-D3EF-0BF6-23D2-DFCA0DF6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19</a:t>
            </a:fld>
            <a:endParaRPr lang="ru-RU"/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6350CD29-29C1-B300-7F5C-99884D3E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3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Проектирование и реализация прототипа системы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8E387E11-59D0-A1FC-5F98-CCD50C7C4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Модуль выделения именованных сущностей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83B1D7B-1A5F-8AD7-2BCC-0B6DCBE8D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25" y="1541125"/>
            <a:ext cx="8734550" cy="489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137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BCEB7-EA69-390D-7280-1DF36252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A1F8C9E-22BF-3527-F9CA-C3E934D800CE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BA6EE0-D7B5-0E49-5EEB-5161A3C3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20</a:t>
            </a:fld>
            <a:endParaRPr lang="ru-RU"/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BEE86BB5-F48A-AE29-450A-C6699CD9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3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Проектирование и реализация прототипа системы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F9B53862-8656-8288-D9D5-66CBF17E2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Модуль поиска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4523A-EFDE-A41B-169C-A2B0D3083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73" y="1690688"/>
            <a:ext cx="10383253" cy="4635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465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EF5BAA-EECB-0C3C-4F79-E43DC401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65C9B7-04E6-46A8-5D64-4C0006F9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4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 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Тестирование и экспериментальное исследование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4623F737-3867-7C2A-EB19-E4D67AF4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Технологический стек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B455D5E-4F78-6951-BCAC-38C9B8CC78D5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510B84-E374-9EDA-6BDC-C65224040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894" y="1685223"/>
            <a:ext cx="7138537" cy="467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371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1E475AF-09B2-4988-85C6-6260AE43529D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C5DACF4-AD48-AB51-672E-4C95474D0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22</a:t>
            </a:fld>
            <a:endParaRPr lang="ru-RU"/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9190AC16-9384-D975-7E07-2C0090E9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4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 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Тестирование и экспериментальное исследование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E0170982-93E2-B493-4CBC-F607F0C9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Эксперименты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A085A1-C5D1-83CE-D426-B7A0C6C4029E}"/>
              </a:ext>
            </a:extLst>
          </p:cNvPr>
          <p:cNvSpPr txBox="1"/>
          <p:nvPr/>
        </p:nvSpPr>
        <p:spPr>
          <a:xfrm>
            <a:off x="452062" y="1691531"/>
            <a:ext cx="11250202" cy="27681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Эксперимент 1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сравнить извлечение именованных сущностей, учитывающее падеж во время выделения кандидатов в именованные сущность с извлечением, которое учитывает только части речи.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Эксперимент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2: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показать эффективность поиска актуальной информации по размеченной коллекции документов по сравнению с классическим полнотекстовым поиском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665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CAD3-4FF0-E447-07C7-22C0E631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F5CE91C-392E-C503-B2CF-C5DC43E600B3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76621E3-7EB6-EA7C-DCBC-415DB964D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23</a:t>
            </a:fld>
            <a:endParaRPr lang="ru-RU"/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F05C5128-398E-F850-D248-C132CBC6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Задача 4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 </a:t>
            </a:r>
            <a:r>
              <a:rPr lang="ru-RU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Тестирование и экспериментальное исследование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D46DC44-B2DA-A1BC-2A99-689C0F58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Эксперимент «Поиск»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F2DF14-FDE8-8B78-E328-0785F1895D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6" r="3555"/>
          <a:stretch>
            <a:fillRect/>
          </a:stretch>
        </p:blipFill>
        <p:spPr>
          <a:xfrm>
            <a:off x="103598" y="1817430"/>
            <a:ext cx="7012091" cy="383789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D837E8-A4F5-359C-72CA-3A077B6B33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472"/>
          <a:stretch>
            <a:fillRect/>
          </a:stretch>
        </p:blipFill>
        <p:spPr>
          <a:xfrm>
            <a:off x="7351583" y="922523"/>
            <a:ext cx="4736819" cy="5009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3C8887-FB0D-27DB-95C4-1BF9D6D603DC}"/>
              </a:ext>
            </a:extLst>
          </p:cNvPr>
          <p:cNvSpPr txBox="1"/>
          <p:nvPr/>
        </p:nvSpPr>
        <p:spPr>
          <a:xfrm>
            <a:off x="2797980" y="5837456"/>
            <a:ext cx="129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Просмотр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04F199-E96F-4EA1-5994-2E4544516AA5}"/>
              </a:ext>
            </a:extLst>
          </p:cNvPr>
          <p:cNvSpPr txBox="1"/>
          <p:nvPr/>
        </p:nvSpPr>
        <p:spPr>
          <a:xfrm>
            <a:off x="8614336" y="6007940"/>
            <a:ext cx="273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Размеченный документ</a:t>
            </a:r>
          </a:p>
        </p:txBody>
      </p:sp>
    </p:spTree>
    <p:extLst>
      <p:ext uri="{BB962C8B-B14F-4D97-AF65-F5344CB8AC3E}">
        <p14:creationId xmlns:p14="http://schemas.microsoft.com/office/powerpoint/2010/main" val="3661771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1E475AF-09B2-4988-85C6-6260AE43529D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F79AAE-D2EC-F22F-D514-C4CE0200BF68}"/>
              </a:ext>
            </a:extLst>
          </p:cNvPr>
          <p:cNvSpPr txBox="1"/>
          <p:nvPr/>
        </p:nvSpPr>
        <p:spPr>
          <a:xfrm>
            <a:off x="452062" y="1792491"/>
            <a:ext cx="10998665" cy="43919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Разработана система автоматизированной разметки текстовых документов для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QA-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систем. Эксперимент показал, что предложенный метод обеспечивает более высокую полноту и релевантность извлекаемой информации по сравнению с классическим поиском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В ходе работы были достигнуты следующие результаты: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Проведён сравнительный анализ подходов и методов к разметке текстовых документов.</a:t>
            </a:r>
          </a:p>
          <a:p>
            <a:pPr indent="444500" algn="just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Построена модель предметной области «Разметка текстовых документов».</a:t>
            </a:r>
          </a:p>
          <a:p>
            <a:pPr lvl="0" indent="444500" algn="just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Спроектирован и реализован прототип системы разметки текстовых документов вопросно-ответной системы с размеченной коллекцией документов.</a:t>
            </a:r>
          </a:p>
          <a:p>
            <a:pPr indent="444500" algn="just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Выполнено тестирование и экспериментальное исследование.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8E9362-9935-2E5D-404E-798583EB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30E2107-CE24-4BC6-2938-F526708A9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B5F3469-59F0-5E85-B8FE-BCDB6B524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12" y="365125"/>
            <a:ext cx="11493259" cy="1339940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Результаты выпускной квалификационной работы</a:t>
            </a:r>
          </a:p>
        </p:txBody>
      </p:sp>
    </p:spTree>
    <p:extLst>
      <p:ext uri="{BB962C8B-B14F-4D97-AF65-F5344CB8AC3E}">
        <p14:creationId xmlns:p14="http://schemas.microsoft.com/office/powerpoint/2010/main" val="3212458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1E475AF-09B2-4988-85C6-6260AE43529D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A44BFA-B860-F92D-4BA4-76FCCCCD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367692-9382-7119-0C43-B7A2928F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452F75D-FD91-2503-9C33-19948E05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Демонстрация</a:t>
            </a:r>
          </a:p>
        </p:txBody>
      </p:sp>
      <p:pic>
        <p:nvPicPr>
          <p:cNvPr id="5" name="Рисунок 4" descr="Изображение выглядит как текст, снимок экрана, Шрифт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D0AD4E9-FD22-E262-CB23-12D81D9AF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22" y="1690688"/>
            <a:ext cx="10364882" cy="474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19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59C4644-C946-7F14-7B21-226886A1F44C}"/>
              </a:ext>
            </a:extLst>
          </p:cNvPr>
          <p:cNvSpPr txBox="1">
            <a:spLocks/>
          </p:cNvSpPr>
          <p:nvPr/>
        </p:nvSpPr>
        <p:spPr>
          <a:xfrm>
            <a:off x="2488054" y="2819150"/>
            <a:ext cx="7215891" cy="1219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000" dirty="0">
                <a:solidFill>
                  <a:schemeClr val="tx1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D43A014-A4D6-00CA-0E7F-03FE08D7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4845B7-403E-ABEA-5F45-562996EA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394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3A0C7-082A-F32B-3033-6B0608A5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963F29E-763D-FFDD-7C85-EBA2EDC6C98C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7D0870-12B4-29C1-7E1C-AD2A90A1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27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F5B20F-D76D-E80F-1A7A-5F3E653D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E6D9410-45F3-7C8E-69F9-B1973EA0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Диаграмма модуля формирования словаря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1144DC-8FE3-B587-AD8F-B1B6E069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202" y="1969604"/>
            <a:ext cx="9465595" cy="356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675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6B14D-6C05-2A81-77DD-E6827072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48C421B-5F06-C8CC-8EB4-8EFCB49DE9AC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A56AF0-960B-8798-6D49-6C6EFD02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28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722AE94-193B-F92A-9B56-66895D39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B6EFCF0-F164-747A-7C54-4525BFCC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База данных ПС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EFAA85D-FA5C-B837-2EDF-FF32D10C5D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" t="1359"/>
          <a:stretch>
            <a:fillRect/>
          </a:stretch>
        </p:blipFill>
        <p:spPr bwMode="auto">
          <a:xfrm>
            <a:off x="759516" y="1541125"/>
            <a:ext cx="10659357" cy="4641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8958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2A6A1-DF73-9EA2-5952-37F65FAC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841C15E-B244-6437-CF38-C17C6F3BD4A3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1D696F-28CC-E3BF-B030-FDED5042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29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0887B91-85D8-381F-6E62-57FB7239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DEDC1AC-915E-A958-0BC7-4B1D918F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Use-Case</a:t>
            </a:r>
            <a:endParaRPr lang="ru-R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DCC8A98-1DDC-A2BC-5EA1-E1255B19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106" y="1546301"/>
            <a:ext cx="7411787" cy="531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338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8B504-F50F-42E8-2BDB-CA53A0C7B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4064" cy="1325563"/>
          </a:xfrm>
        </p:spPr>
        <p:txBody>
          <a:bodyPr/>
          <a:lstStyle/>
          <a:p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Этапы разметки текстовых документов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97903A4-C59D-5FAB-D9B2-9ADA6B6C585A}"/>
              </a:ext>
            </a:extLst>
          </p:cNvPr>
          <p:cNvCxnSpPr/>
          <p:nvPr/>
        </p:nvCxnSpPr>
        <p:spPr>
          <a:xfrm>
            <a:off x="452062" y="1541125"/>
            <a:ext cx="1125020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29CF50-8CF1-F406-CCF0-42C17CA0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0391-24FC-439E-8B67-98451B78CDD5}" type="slidenum">
              <a:rPr lang="ru-RU" smtClean="0"/>
              <a:t>30</a:t>
            </a:fld>
            <a:endParaRPr lang="ru-RU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D4761BD-2EB6-7188-65AB-30A4B68C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45" y="2870197"/>
            <a:ext cx="11421710" cy="179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B6B345-0A66-BCFE-1128-61E09960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0133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Myriad Pro"/>
        <a:ea typeface=""/>
        <a:cs typeface=""/>
      </a:majorFont>
      <a:minorFont>
        <a:latin typeface="Myriad Pro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0869DDD7CA004418E7993F54CA22BFD" ma:contentTypeVersion="13" ma:contentTypeDescription="Создание документа." ma:contentTypeScope="" ma:versionID="aa880ceafd6c3b367170f34ff2d95b49">
  <xsd:schema xmlns:xsd="http://www.w3.org/2001/XMLSchema" xmlns:xs="http://www.w3.org/2001/XMLSchema" xmlns:p="http://schemas.microsoft.com/office/2006/metadata/properties" xmlns:ns3="4a7ee83e-f1bd-4e44-a0e9-8265f476a58f" xmlns:ns4="f8deaff8-c79e-41d4-8718-c5a61bbf916e" targetNamespace="http://schemas.microsoft.com/office/2006/metadata/properties" ma:root="true" ma:fieldsID="00e149ad382b08628b319c6e985eab7e" ns3:_="" ns4:_="">
    <xsd:import namespace="4a7ee83e-f1bd-4e44-a0e9-8265f476a58f"/>
    <xsd:import namespace="f8deaff8-c79e-41d4-8718-c5a61bbf916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7ee83e-f1bd-4e44-a0e9-8265f476a5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eaff8-c79e-41d4-8718-c5a61bbf916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Хэш подсказки о совместном доступе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a7ee83e-f1bd-4e44-a0e9-8265f476a58f" xsi:nil="true"/>
  </documentManagement>
</p:properties>
</file>

<file path=customXml/itemProps1.xml><?xml version="1.0" encoding="utf-8"?>
<ds:datastoreItem xmlns:ds="http://schemas.openxmlformats.org/officeDocument/2006/customXml" ds:itemID="{0393544D-09DC-4387-A96C-1C5AD83720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7B37A-85B2-49BD-A702-38AE35184E42}">
  <ds:schemaRefs>
    <ds:schemaRef ds:uri="4a7ee83e-f1bd-4e44-a0e9-8265f476a58f"/>
    <ds:schemaRef ds:uri="f8deaff8-c79e-41d4-8718-c5a61bbf91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E5A8AB-5A65-48BC-80E0-21F10405B0A8}">
  <ds:schemaRefs>
    <ds:schemaRef ds:uri="http://purl.org/dc/terms/"/>
    <ds:schemaRef ds:uri="http://schemas.microsoft.com/office/2006/documentManagement/types"/>
    <ds:schemaRef ds:uri="http://www.w3.org/XML/1998/namespace"/>
    <ds:schemaRef ds:uri="f8deaff8-c79e-41d4-8718-c5a61bbf916e"/>
    <ds:schemaRef ds:uri="4a7ee83e-f1bd-4e44-a0e9-8265f476a58f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8568</TotalTime>
  <Words>2819</Words>
  <Application>Microsoft Macintosh PowerPoint</Application>
  <PresentationFormat>Широкоэкранный</PresentationFormat>
  <Paragraphs>306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fkGroteskNeue</vt:lpstr>
      <vt:lpstr>Myriad Pro</vt:lpstr>
      <vt:lpstr>Myriad Pro Light</vt:lpstr>
      <vt:lpstr>Roboto</vt:lpstr>
      <vt:lpstr>Söhne</vt:lpstr>
      <vt:lpstr>Times New Roman</vt:lpstr>
      <vt:lpstr>Wingdings</vt:lpstr>
      <vt:lpstr>Тема Office</vt:lpstr>
      <vt:lpstr>АВТОМАТИЗАЦИЯ ПРОЦЕССА РАЗМЕТКИ ТЕКСТОВЫХ ДОКУМЕНТОВ ВОПРОСНО-ОТВЕТНОЙ СИСТЕМЫ С РАЗМЕЧЕННОЙ КОЛЛЕКЦИЕЙ ДОКУМЕНТОВ</vt:lpstr>
      <vt:lpstr>Проблемы поисковых систем</vt:lpstr>
      <vt:lpstr>Цели и задачи</vt:lpstr>
      <vt:lpstr>Вопросно-ответная система и её типы</vt:lpstr>
      <vt:lpstr>Презентация PowerPoint</vt:lpstr>
      <vt:lpstr>Презентация PowerPoint</vt:lpstr>
      <vt:lpstr>Извлечение именованных сущностей (NER)</vt:lpstr>
      <vt:lpstr> Подходы NER (2/2)</vt:lpstr>
      <vt:lpstr>Презентация PowerPoint</vt:lpstr>
      <vt:lpstr>Этапы разметки коллекции документов</vt:lpstr>
      <vt:lpstr>Группы пользователей и их задачи</vt:lpstr>
      <vt:lpstr>Типы словосочетаний</vt:lpstr>
      <vt:lpstr>Сравнение подходов определения типа словосочетания</vt:lpstr>
      <vt:lpstr>Извлечение именованных сущностей</vt:lpstr>
      <vt:lpstr>Модель предметной области</vt:lpstr>
      <vt:lpstr>Метод выделения именованных сущностей</vt:lpstr>
      <vt:lpstr>Метод поиска по одному словосочетанию</vt:lpstr>
      <vt:lpstr>Архитектурно-контекстная диаграмма</vt:lpstr>
      <vt:lpstr>Модуль выделения именованных сущностей</vt:lpstr>
      <vt:lpstr>Модуль поиска</vt:lpstr>
      <vt:lpstr>Технологический стек</vt:lpstr>
      <vt:lpstr>Эксперименты</vt:lpstr>
      <vt:lpstr>Эксперимент «Поиск» </vt:lpstr>
      <vt:lpstr>Результаты выпускной квалификационной работы</vt:lpstr>
      <vt:lpstr>Демонстрация</vt:lpstr>
      <vt:lpstr>Презентация PowerPoint</vt:lpstr>
      <vt:lpstr>Диаграмма модуля формирования словаря</vt:lpstr>
      <vt:lpstr>База данных ПС</vt:lpstr>
      <vt:lpstr>Use-Case</vt:lpstr>
      <vt:lpstr>Этапы разметки текстовых документов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Egor Khmelevsky</dc:creator>
  <cp:lastModifiedBy>Хмелевский Егор Дмитриевич</cp:lastModifiedBy>
  <cp:revision>202</cp:revision>
  <dcterms:created xsi:type="dcterms:W3CDTF">2023-06-18T09:18:20Z</dcterms:created>
  <dcterms:modified xsi:type="dcterms:W3CDTF">2025-07-06T14:09:59Z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0x01010050869DDD7CA004418E7993F54CA22BFD</vt:lpwstr>
  </property>
</Properties>
</file>